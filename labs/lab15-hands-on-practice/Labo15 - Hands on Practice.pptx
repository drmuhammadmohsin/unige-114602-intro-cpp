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450" r:id="rId3"/>
    <p:sldId id="261" r:id="rId4"/>
    <p:sldId id="456" r:id="rId5"/>
    <p:sldId id="459" r:id="rId6"/>
    <p:sldId id="460" r:id="rId7"/>
    <p:sldId id="461" r:id="rId8"/>
    <p:sldId id="463" r:id="rId9"/>
    <p:sldId id="462" r:id="rId10"/>
    <p:sldId id="4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264" autoAdjust="0"/>
    <p:restoredTop sz="95033" autoAdjust="0"/>
  </p:normalViewPr>
  <p:slideViewPr>
    <p:cSldViewPr snapToGrid="0" snapToObjects="1">
      <p:cViewPr varScale="1">
        <p:scale>
          <a:sx n="78" d="100"/>
          <a:sy n="78" d="100"/>
        </p:scale>
        <p:origin x="31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hammad Mohsin" userId="df76b627-ce7c-4005-88dc-15e098f355fb" providerId="ADAL" clId="{3B62111D-8EFE-472B-9F97-00499F2BB5A4}"/>
    <pc:docChg chg="modSld">
      <pc:chgData name="Muhammad Mohsin" userId="df76b627-ce7c-4005-88dc-15e098f355fb" providerId="ADAL" clId="{3B62111D-8EFE-472B-9F97-00499F2BB5A4}" dt="2026-03-26T10:36:51.276" v="1" actId="20577"/>
      <pc:docMkLst>
        <pc:docMk/>
      </pc:docMkLst>
      <pc:sldChg chg="modSp mod">
        <pc:chgData name="Muhammad Mohsin" userId="df76b627-ce7c-4005-88dc-15e098f355fb" providerId="ADAL" clId="{3B62111D-8EFE-472B-9F97-00499F2BB5A4}" dt="2026-03-26T10:36:51.276" v="1" actId="20577"/>
        <pc:sldMkLst>
          <pc:docMk/>
          <pc:sldMk cId="2818482663" sldId="256"/>
        </pc:sldMkLst>
        <pc:spChg chg="mod">
          <ac:chgData name="Muhammad Mohsin" userId="df76b627-ce7c-4005-88dc-15e098f355fb" providerId="ADAL" clId="{3B62111D-8EFE-472B-9F97-00499F2BB5A4}" dt="2026-03-26T10:36:51.276" v="1" actId="20577"/>
          <ac:spMkLst>
            <pc:docMk/>
            <pc:sldMk cId="2818482663" sldId="256"/>
            <ac:spMk id="3" creationId="{305C8C55-FA11-A041-9D33-F4E3D0C999C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00FCA9-0CFE-42A3-A366-AC257B7FB507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E42C0-23EF-43A4-A898-463C18452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251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E42C0-23EF-43A4-A898-463C1845292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4771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E42C0-23EF-43A4-A898-463C1845292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333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2F9DB-2CFF-59E2-CBEC-D0DD541A8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FDFC93-A220-1BED-0B11-7C4B2A23C6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BF5AF6-B0E9-7B81-9932-E840650409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101D8B-77B6-CF19-39C2-78D2630628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E42C0-23EF-43A4-A898-463C1845292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7399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8476B-6DEE-8494-6682-9655C156B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DE71A1-933D-DC58-2FA6-6A3674D632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A656A2-ED84-60D8-3B7A-A7C52C1820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E0D4AA-257F-7946-3008-078D639223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E42C0-23EF-43A4-A898-463C1845292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8477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26C11-1ADA-47B3-37C9-FF07E7F92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035342-559D-6D89-4CD2-C7693F3F8C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E49F5D-3128-DB2A-4731-4DF6371F6D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43DC68-BDE0-E7B6-7FCD-0EDAAFD53D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E42C0-23EF-43A4-A898-463C1845292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5480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4AC26-5418-2F52-B103-D9C98DC88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5E5463-A5EF-0CDC-9051-8DBDCB9C94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AFBEF7-C675-C4C8-51B5-0551663BE5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98D418-F49C-2117-3B87-5DF71D4B01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E42C0-23EF-43A4-A898-463C1845292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2516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44B7A-3147-9989-85BD-16BE52897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E2AAE2-0E78-55D7-D8B0-F46D0083D2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8F0128-1E87-CBBF-922C-607F3B340C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3A96CF-9250-236C-39E2-17947532E1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E42C0-23EF-43A4-A898-463C1845292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1730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F6F42-0DF6-7F41-A35A-FAD2F3A30F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05118C-DCD0-D744-9617-01D2A9E54D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0B4BA3-0746-D94F-BB7F-870DDBE02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17CEF8-1452-9D41-8466-5951F62E5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1786E8-A2DB-B848-B3C9-CA97BCB6F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865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A9DD6-1992-9043-B714-E15FE04C3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DF830-82BD-4940-B114-F3475445B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FA5361-471F-A044-BEBB-8CBAA6C2A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941ED1-C88D-EA4F-B978-BEE093B02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952ADA-09B0-AE4B-879E-F1FD87E51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707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0DA8A-9BBE-7A41-8D36-6E3401F2B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CCE368-6C1C-1F4F-9A0B-A5211067BB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BD650C-963B-584D-B3F5-6E4FF673A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6231A2-10DA-A141-871E-943A44178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42FE58-E0ED-DF46-B00E-0ABB4AD93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253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3F230-8CA3-FD41-BC35-F16072A51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A3F09-FA53-FF4B-88EA-8333733C3C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1783F1-26D1-5D40-9A12-02E2C1C4AA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FD1E2F-4257-FD4D-B3D9-E47CF61C7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E070D5-3DBC-E74F-B653-0BC01C074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BEBBD4-8056-8844-B52B-D89E3704C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729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69CCB-7DD4-1D41-A06D-D073F3125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8203ED-564C-1841-9E27-C469AF244D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5CAE46-1764-FF4C-B795-77329DDD7F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093BB7-AA0B-AE45-BC43-01AA5988F7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F500C5-FF8D-4A4F-960F-F0BD75438D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BD551B-73C4-A24B-BA74-6E6C59FE8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3AA90F-D25B-804A-8992-DAD4A2CCB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15D27C-2D4C-1D47-BC1A-769018F6F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841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AD391-3397-354D-B03E-D12F1FC15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2002E7-CCA7-D843-905A-9AEB83059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C2A30A-0D9D-664D-87CF-2DED1BF36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61BF79-1370-1B43-BD9F-350EC4612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705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06B272-B2C5-5C44-A9FF-6C3AFEBA8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027FDC-6F8C-154B-903B-628A43EE9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772E17-64B7-BF46-B1C6-65BB18EBD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870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BBB1C-2678-AA48-9EAF-24F13FE72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7CEB6-1BB9-4A49-ACB0-B294E051A0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9F701C-7C31-464D-92EA-6D3B097ACE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003C05-0FAD-C248-BE05-6ADFB2ACD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BB1321-CA8B-DA4A-9699-565D0453C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CFAA9E-5516-8F4A-89E3-0BA6CCA9F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016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898A0-2D96-C042-AE94-1F461E90D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58718D-8B02-6E43-A518-6B8E6AC9E6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D7EA38-47E1-F74D-BEDD-93FF5F9754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8EDC4A-53DF-9B41-9417-85A9978E6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2F50B7-038B-4C40-AE33-C462DAA26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E76079-A2A4-7D43-8D24-D4072D56B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582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8CDF9-17F4-B740-85D3-83C240BF0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D6216F-7B04-2D44-9728-4FFEAC9C20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65E589-A29C-9240-9B7B-DA5B4AA64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36D8C-BDEF-0A42-9921-042BECC44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5049FE-9981-EA40-B956-84F8C87C0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562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27DB6D-2F93-BB4A-A984-14FA758FB0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B0E791-A971-0648-A185-CAE72D3DD1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D20141-DA3E-4D42-91F1-761296C42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85213-671C-2342-9274-72F871963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7D649-B5F0-954A-B270-A9E372A29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977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802454-00F4-AD46-96E3-90C0EA9FB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FC4A82-1295-4445-851D-A797684F20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DC530-920B-6043-ACBC-31CFEDE866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96451-C226-B344-86F8-72EFF8FC2CF7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86808-1B08-7F46-B091-2263B09725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DF617-8746-4F49-9226-590B5586C1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733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AD876-732D-0240-A8A5-4C20AE8DBE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66013"/>
            <a:ext cx="9144000" cy="1779354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Introduction to Computer Science and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5C8C55-FA11-A041-9D33-F4E3D0C999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14738"/>
            <a:ext cx="9144000" cy="2392362"/>
          </a:xfrm>
        </p:spPr>
        <p:txBody>
          <a:bodyPr>
            <a:normAutofit fontScale="92500" lnSpcReduction="10000"/>
          </a:bodyPr>
          <a:lstStyle/>
          <a:p>
            <a:r>
              <a:rPr lang="en-US" sz="3200" b="1" dirty="0"/>
              <a:t>Labo 15 – Hands-On Practice Lab</a:t>
            </a:r>
          </a:p>
          <a:p>
            <a:r>
              <a:rPr lang="en-US" sz="2800" dirty="0"/>
              <a:t>Laboratory 15, March 26, 2026</a:t>
            </a:r>
          </a:p>
          <a:p>
            <a:endParaRPr lang="en-US" sz="2800" dirty="0"/>
          </a:p>
          <a:p>
            <a:r>
              <a:rPr lang="en-US" sz="2800" b="1" dirty="0"/>
              <a:t>Filippo Ricca - Muhammad Mohsin</a:t>
            </a:r>
            <a:r>
              <a:rPr lang="it-IT" sz="2000" dirty="0"/>
              <a:t>  </a:t>
            </a:r>
            <a:endParaRPr lang="en-US" sz="2800" b="1" dirty="0"/>
          </a:p>
          <a:p>
            <a:r>
              <a:rPr lang="en-US" sz="2800" b="1" dirty="0">
                <a:solidFill>
                  <a:srgbClr val="C00000"/>
                </a:solidFill>
              </a:rPr>
              <a:t>DIBRIS, University of Genova</a:t>
            </a:r>
          </a:p>
        </p:txBody>
      </p:sp>
    </p:spTree>
    <p:extLst>
      <p:ext uri="{BB962C8B-B14F-4D97-AF65-F5344CB8AC3E}">
        <p14:creationId xmlns:p14="http://schemas.microsoft.com/office/powerpoint/2010/main" val="2818482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72896"/>
          </a:xfrm>
        </p:spPr>
        <p:txBody>
          <a:bodyPr/>
          <a:lstStyle/>
          <a:p>
            <a:pPr algn="ctr"/>
            <a:r>
              <a:rPr lang="en-US" b="1" dirty="0"/>
              <a:t>Today…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589" y="1194646"/>
            <a:ext cx="10779211" cy="566335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Today's lab is dedicated to </a:t>
            </a:r>
            <a:r>
              <a:rPr lang="en-US" b="1" dirty="0">
                <a:solidFill>
                  <a:srgbClr val="FF0000"/>
                </a:solidFill>
              </a:rPr>
              <a:t>hands on practice for understanding of fundamental aspects of the discipline and to verify the students’ understanding in coding. </a:t>
            </a:r>
          </a:p>
          <a:p>
            <a:pPr marL="0" indent="0" algn="just">
              <a:buNone/>
            </a:pPr>
            <a:r>
              <a:rPr lang="en-US" dirty="0"/>
              <a:t>This lab will help to prepare for next evaluated lab.</a:t>
            </a:r>
          </a:p>
          <a:p>
            <a:pPr marL="0" indent="0" algn="just">
              <a:buNone/>
            </a:pPr>
            <a:r>
              <a:rPr lang="en-US" dirty="0"/>
              <a:t>• Covered topics in the today evaluated lab: </a:t>
            </a:r>
          </a:p>
          <a:p>
            <a:pPr lvl="1" algn="just"/>
            <a:r>
              <a:rPr lang="en-US" sz="2800" b="1" dirty="0">
                <a:solidFill>
                  <a:schemeClr val="accent1">
                    <a:lumMod val="75000"/>
                  </a:schemeClr>
                </a:solidFill>
              </a:rPr>
              <a:t>Theoretical aspects explained during the lessons</a:t>
            </a:r>
          </a:p>
          <a:p>
            <a:pPr lvl="1" algn="just"/>
            <a:r>
              <a:rPr lang="en-US" sz="2800" b="1" dirty="0">
                <a:solidFill>
                  <a:schemeClr val="accent1">
                    <a:lumMod val="75000"/>
                  </a:schemeClr>
                </a:solidFill>
              </a:rPr>
              <a:t>Exercise and practical aspects:</a:t>
            </a:r>
          </a:p>
          <a:p>
            <a:pPr lvl="2" algn="just"/>
            <a:r>
              <a:rPr lang="en-US" sz="2400" dirty="0"/>
              <a:t>Functions and Arrays </a:t>
            </a:r>
          </a:p>
          <a:p>
            <a:pPr lvl="2" algn="just"/>
            <a:r>
              <a:rPr lang="en-US" sz="2400" dirty="0"/>
              <a:t>Strings</a:t>
            </a:r>
          </a:p>
          <a:p>
            <a:pPr lvl="2" algn="just"/>
            <a:r>
              <a:rPr lang="en-US" sz="2400" dirty="0"/>
              <a:t>Structures</a:t>
            </a:r>
          </a:p>
          <a:p>
            <a:pPr lvl="2" algn="just"/>
            <a:r>
              <a:rPr lang="en-US" sz="2400" dirty="0"/>
              <a:t>Pointers </a:t>
            </a:r>
          </a:p>
          <a:p>
            <a:pPr lvl="1" algn="just"/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sz="2000" dirty="0"/>
          </a:p>
          <a:p>
            <a:pPr algn="just"/>
            <a:endParaRPr lang="en-US" dirty="0">
              <a:solidFill>
                <a:srgbClr val="0070C0"/>
              </a:solidFill>
            </a:endParaRPr>
          </a:p>
          <a:p>
            <a:pPr algn="just"/>
            <a:endParaRPr lang="en-US" dirty="0">
              <a:solidFill>
                <a:srgbClr val="0070C0"/>
              </a:solidFill>
            </a:endParaRPr>
          </a:p>
          <a:p>
            <a:pPr algn="just"/>
            <a:endParaRPr lang="en-US" dirty="0">
              <a:solidFill>
                <a:srgbClr val="0070C0"/>
              </a:solidFill>
            </a:endParaRPr>
          </a:p>
          <a:p>
            <a:pPr algn="just"/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lvl="1" algn="just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D3D19D-7A0F-E4CF-4363-9B54F6B281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7481" y="4797728"/>
            <a:ext cx="2726112" cy="1731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504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58B32EA-1ECD-407F-879E-7C1C20681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Hands on Practice Lab – Instructions and Rules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4E97875-F8D2-98C4-F6B7-382F57C380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1190" y="1675481"/>
            <a:ext cx="10515600" cy="4351338"/>
          </a:xfrm>
        </p:spPr>
        <p:txBody>
          <a:bodyPr>
            <a:normAutofit/>
          </a:bodyPr>
          <a:lstStyle/>
          <a:p>
            <a:pPr marL="457200" indent="-457200" algn="just">
              <a:spcBef>
                <a:spcPct val="5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 i="1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Given the following C++ programs, explain what happens if you try to compile them with a C++ compiler (for example, the one used in class) and execute them providing the inputs that will be given next to the "INPUT:" tag. </a:t>
            </a:r>
          </a:p>
          <a:p>
            <a:pPr marL="457200" indent="-457200" algn="just">
              <a:spcBef>
                <a:spcPct val="50000"/>
              </a:spcBef>
            </a:pPr>
            <a:r>
              <a:rPr lang="en-US" b="1" dirty="0"/>
              <a:t>Next to the "OUTPUT:" tag, write the expected result after compilation and execution (clearly indicating if the program compiles). So, next to OUTPUT one might write: Compile time error or the result of the execution (which could also be a runtime error, such as dividing a number by zero). </a:t>
            </a:r>
            <a:endParaRPr lang="en-US" dirty="0"/>
          </a:p>
          <a:p>
            <a:pPr marL="457200" indent="-457200" algn="just">
              <a:spcBef>
                <a:spcPct val="5000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altLang="en-US" sz="2800" dirty="0">
              <a:latin typeface="+mn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9049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4E7F41-FEAA-EE99-39A0-2FE6BBAFD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2CCC84C-9732-5AD4-44E5-B01E5512F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9660" y="198446"/>
            <a:ext cx="2762865" cy="546715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r"/>
            <a:r>
              <a:rPr lang="en-US" sz="4000" b="1" dirty="0">
                <a:solidFill>
                  <a:srgbClr val="00B050"/>
                </a:solidFill>
              </a:rPr>
              <a:t>Exercise 1: </a:t>
            </a:r>
          </a:p>
        </p:txBody>
      </p:sp>
      <p:sp>
        <p:nvSpPr>
          <p:cNvPr id="7" name="AutoShape 2" descr=", AI generated">
            <a:extLst>
              <a:ext uri="{FF2B5EF4-FFF2-40B4-BE49-F238E27FC236}">
                <a16:creationId xmlns:a16="http://schemas.microsoft.com/office/drawing/2014/main" id="{C41F42D4-A943-2D81-3C9F-823FE9566A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90070" y="3276600"/>
            <a:ext cx="1258330" cy="1258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AB36AC2B-8BF3-7D0B-2182-1EB35B7CCA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361" y="458162"/>
            <a:ext cx="5011757" cy="615894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4DEE005-C3A4-9DED-02EE-083ECCEF9997}"/>
              </a:ext>
            </a:extLst>
          </p:cNvPr>
          <p:cNvSpPr txBox="1"/>
          <p:nvPr/>
        </p:nvSpPr>
        <p:spPr>
          <a:xfrm>
            <a:off x="7363273" y="1744311"/>
            <a:ext cx="373378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INPUT: 1 2 4 5</a:t>
            </a:r>
            <a:endParaRPr lang="en-US" sz="2400" dirty="0"/>
          </a:p>
          <a:p>
            <a:r>
              <a:rPr lang="fr-FR" sz="2400" b="1" dirty="0"/>
              <a:t>OUTPUT:</a:t>
            </a:r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5722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1FC253-A449-78CA-5099-4324EB4E5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95199994-21AE-49A2-BA0D-12E295989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DEE489F-8C93-7FCE-FE56-79ADBAA84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785" y="71780"/>
            <a:ext cx="4771178" cy="116011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dirty="0">
                <a:solidFill>
                  <a:srgbClr val="00B050"/>
                </a:solidFill>
              </a:rPr>
              <a:t>Exercise 2:</a:t>
            </a:r>
          </a:p>
        </p:txBody>
      </p:sp>
      <p:pic>
        <p:nvPicPr>
          <p:cNvPr id="5" name="Picture 4" descr="A computer screen shot of a program code&#10;&#10;AI-generated content may be incorrect.">
            <a:extLst>
              <a:ext uri="{FF2B5EF4-FFF2-40B4-BE49-F238E27FC236}">
                <a16:creationId xmlns:a16="http://schemas.microsoft.com/office/drawing/2014/main" id="{73D0B89F-571F-5778-9068-7E11A35DC1F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518" y="183806"/>
            <a:ext cx="5873800" cy="6490388"/>
          </a:xfrm>
          <a:custGeom>
            <a:avLst/>
            <a:gdLst/>
            <a:ahLst/>
            <a:cxnLst/>
            <a:rect l="l" t="t" r="r" b="b"/>
            <a:pathLst>
              <a:path w="4643496" h="5550370">
                <a:moveTo>
                  <a:pt x="81586" y="0"/>
                </a:moveTo>
                <a:lnTo>
                  <a:pt x="4561910" y="0"/>
                </a:lnTo>
                <a:cubicBezTo>
                  <a:pt x="4606969" y="0"/>
                  <a:pt x="4643496" y="36527"/>
                  <a:pt x="4643496" y="81586"/>
                </a:cubicBezTo>
                <a:lnTo>
                  <a:pt x="4643496" y="5468784"/>
                </a:lnTo>
                <a:cubicBezTo>
                  <a:pt x="4643496" y="5513843"/>
                  <a:pt x="4606969" y="5550370"/>
                  <a:pt x="4561910" y="5550370"/>
                </a:cubicBezTo>
                <a:lnTo>
                  <a:pt x="81586" y="5550370"/>
                </a:lnTo>
                <a:cubicBezTo>
                  <a:pt x="36527" y="5550370"/>
                  <a:pt x="0" y="5513843"/>
                  <a:pt x="0" y="5468784"/>
                </a:cubicBezTo>
                <a:lnTo>
                  <a:pt x="0" y="81586"/>
                </a:lnTo>
                <a:cubicBezTo>
                  <a:pt x="0" y="36527"/>
                  <a:pt x="36527" y="0"/>
                  <a:pt x="81586" y="0"/>
                </a:cubicBezTo>
                <a:close/>
              </a:path>
            </a:pathLst>
          </a:custGeom>
        </p:spPr>
      </p:pic>
      <p:sp>
        <p:nvSpPr>
          <p:cNvPr id="43" name="Arc 42">
            <a:extLst>
              <a:ext uri="{FF2B5EF4-FFF2-40B4-BE49-F238E27FC236}">
                <a16:creationId xmlns:a16="http://schemas.microsoft.com/office/drawing/2014/main" id="{A2C34835-4F79-4934-B151-D68E79764C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269068">
            <a:off x="8717845" y="3339275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0FB74B-F48F-4B95-13B0-F6B95C0E0DD1}"/>
              </a:ext>
            </a:extLst>
          </p:cNvPr>
          <p:cNvSpPr txBox="1"/>
          <p:nvPr/>
        </p:nvSpPr>
        <p:spPr>
          <a:xfrm>
            <a:off x="6769570" y="1825625"/>
            <a:ext cx="4771178" cy="43889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INPUT: 5 8</a:t>
            </a:r>
            <a:endParaRPr lang="en-US" sz="24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OUTPUT:</a:t>
            </a:r>
            <a:endParaRPr lang="en-US" sz="24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7" name="AutoShape 2" descr=", AI generated">
            <a:extLst>
              <a:ext uri="{FF2B5EF4-FFF2-40B4-BE49-F238E27FC236}">
                <a16:creationId xmlns:a16="http://schemas.microsoft.com/office/drawing/2014/main" id="{E0BB57C0-785D-F631-DDB9-4144EAA0A22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90070" y="3276600"/>
            <a:ext cx="1258330" cy="1258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862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24FEFC-73AE-6B4B-AE54-F1A4749B8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460B0EFB-53ED-4F35-B05D-F658EA021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0" name="!!Arc">
            <a:extLst>
              <a:ext uri="{FF2B5EF4-FFF2-40B4-BE49-F238E27FC236}">
                <a16:creationId xmlns:a16="http://schemas.microsoft.com/office/drawing/2014/main" id="{835EF3DD-7D43-4A27-8967-A92FD8CC93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3531" y="407987"/>
            <a:ext cx="2987899" cy="2987899"/>
          </a:xfrm>
          <a:prstGeom prst="arc">
            <a:avLst>
              <a:gd name="adj1" fmla="val 16200000"/>
              <a:gd name="adj2" fmla="val 256372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1AD1CD3-9768-9E41-BA54-CB6C05472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6934" y="-95251"/>
            <a:ext cx="5721484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dirty="0">
                <a:solidFill>
                  <a:srgbClr val="00B050"/>
                </a:solidFill>
              </a:rPr>
              <a:t>Exercise 3: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880FAA-CF34-C543-F16A-577014A49B86}"/>
              </a:ext>
            </a:extLst>
          </p:cNvPr>
          <p:cNvSpPr txBox="1"/>
          <p:nvPr/>
        </p:nvSpPr>
        <p:spPr>
          <a:xfrm>
            <a:off x="6786934" y="1648489"/>
            <a:ext cx="572148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INPUT: 4 6</a:t>
            </a:r>
            <a:endParaRPr lang="en-US" sz="24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OUTPUT:</a:t>
            </a:r>
            <a:endParaRPr lang="en-US" sz="24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7" name="AutoShape 2" descr=", AI generated">
            <a:extLst>
              <a:ext uri="{FF2B5EF4-FFF2-40B4-BE49-F238E27FC236}">
                <a16:creationId xmlns:a16="http://schemas.microsoft.com/office/drawing/2014/main" id="{0DC6C684-7021-0A97-E6A0-4A99A49B9F4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90070" y="3276600"/>
            <a:ext cx="1258330" cy="1258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 descr="A screen shot of a computer screen&#10;&#10;AI-generated content may be incorrect.">
            <a:extLst>
              <a:ext uri="{FF2B5EF4-FFF2-40B4-BE49-F238E27FC236}">
                <a16:creationId xmlns:a16="http://schemas.microsoft.com/office/drawing/2014/main" id="{252CAFBE-9B04-364C-55C7-BC8BCEE598C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056"/>
          <a:stretch/>
        </p:blipFill>
        <p:spPr bwMode="auto">
          <a:xfrm>
            <a:off x="316418" y="223962"/>
            <a:ext cx="5134814" cy="635857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277949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11E4E-A8DD-A3CF-9D9A-F5C219191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0E6683A-7F77-ED72-4D56-E45D9B874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785" y="71780"/>
            <a:ext cx="4771178" cy="116011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dirty="0">
                <a:solidFill>
                  <a:srgbClr val="00B050"/>
                </a:solidFill>
              </a:rPr>
              <a:t>Exercise 4: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4B406B-3167-1F6B-09B6-DCCA3E8FB05C}"/>
              </a:ext>
            </a:extLst>
          </p:cNvPr>
          <p:cNvSpPr txBox="1"/>
          <p:nvPr/>
        </p:nvSpPr>
        <p:spPr>
          <a:xfrm>
            <a:off x="6769570" y="1825625"/>
            <a:ext cx="4771178" cy="43889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INPUT: John Doe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OUTPUT:</a:t>
            </a:r>
            <a:endParaRPr lang="en-US" sz="24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7" name="AutoShape 2" descr=", AI generated">
            <a:extLst>
              <a:ext uri="{FF2B5EF4-FFF2-40B4-BE49-F238E27FC236}">
                <a16:creationId xmlns:a16="http://schemas.microsoft.com/office/drawing/2014/main" id="{AC129A23-2E75-9986-65B7-E435A2F3E53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90070" y="3276600"/>
            <a:ext cx="1258330" cy="1258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C63B330C-1BE0-D05D-3D76-DEBD87632F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252" y="311902"/>
            <a:ext cx="3723863" cy="6413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003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BAE10-3FA6-48DB-4383-5A7DB8EBE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597E55F-8771-2493-03CB-B7CE6E001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7521"/>
          </a:xfrm>
        </p:spPr>
        <p:txBody>
          <a:bodyPr/>
          <a:lstStyle/>
          <a:p>
            <a:r>
              <a:rPr lang="it-IT" b="1" dirty="0"/>
              <a:t>Instructions and Rules – Pay attention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018D651-7F17-5432-AE02-E89E88F663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1190" y="1675481"/>
            <a:ext cx="10515600" cy="4351338"/>
          </a:xfrm>
        </p:spPr>
        <p:txBody>
          <a:bodyPr>
            <a:normAutofit/>
          </a:bodyPr>
          <a:lstStyle/>
          <a:p>
            <a:pPr marL="457200" indent="-457200" algn="just">
              <a:spcBef>
                <a:spcPct val="5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 i="1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Given the following C++ programs, explain what happens if you try to compile them with a C++ compiler (for example, the one used in class) and execute them providing the inputs that will be given next to the "INPUT:" tag. </a:t>
            </a:r>
          </a:p>
          <a:p>
            <a:pPr marL="457200" indent="-457200" algn="just">
              <a:spcBef>
                <a:spcPct val="50000"/>
              </a:spcBef>
            </a:pPr>
            <a:r>
              <a:rPr lang="en-US" b="1" dirty="0"/>
              <a:t>Next to the "OUTPUT:" tag, write the expected result after compilation and execution (clearly indicating if the program compiles). So, next to OUTPUT one might write: Compile time error or the result of the execution (which could also be a runtime error, such as dividing a number by zero). </a:t>
            </a:r>
            <a:endParaRPr lang="en-US" dirty="0"/>
          </a:p>
          <a:p>
            <a:pPr marL="457200" indent="-457200" algn="just">
              <a:spcBef>
                <a:spcPct val="5000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altLang="en-US" sz="2800" dirty="0">
              <a:latin typeface="+mn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10885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6088C-B802-0214-3E5B-B37AF75E8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7C62B8C-74AD-5AF4-12D9-71B60004F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6063" y="123896"/>
            <a:ext cx="4771178" cy="588397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4000" b="1" dirty="0">
                <a:solidFill>
                  <a:srgbClr val="00B050"/>
                </a:solidFill>
              </a:rPr>
              <a:t>Exercise 5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9EB4F1-E19C-18D7-8395-9E37311C5626}"/>
              </a:ext>
            </a:extLst>
          </p:cNvPr>
          <p:cNvSpPr txBox="1"/>
          <p:nvPr/>
        </p:nvSpPr>
        <p:spPr>
          <a:xfrm>
            <a:off x="6690912" y="1501160"/>
            <a:ext cx="4771178" cy="43889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INPUT: 5 5 4 3 2 1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OUTPUT:</a:t>
            </a:r>
            <a:endParaRPr lang="en-US" sz="24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7" name="AutoShape 2" descr=", AI generated">
            <a:extLst>
              <a:ext uri="{FF2B5EF4-FFF2-40B4-BE49-F238E27FC236}">
                <a16:creationId xmlns:a16="http://schemas.microsoft.com/office/drawing/2014/main" id="{E7AA01E4-1FA6-DE50-0201-96CE983FB53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90070" y="3276600"/>
            <a:ext cx="1258330" cy="1258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128C5AB1-B12C-013F-868A-7FC059044F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027" y="291820"/>
            <a:ext cx="3981227" cy="627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659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DBE30-84C6-2319-B89A-7D33ABE17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E14BD61-C2C6-1D83-E2F5-EE9CF9370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6063" y="123896"/>
            <a:ext cx="4771178" cy="588397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Exercise 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6CCCB0-6C7A-BAF0-4B4A-B991BFBBAD72}"/>
              </a:ext>
            </a:extLst>
          </p:cNvPr>
          <p:cNvSpPr txBox="1"/>
          <p:nvPr/>
        </p:nvSpPr>
        <p:spPr>
          <a:xfrm>
            <a:off x="6690912" y="1501160"/>
            <a:ext cx="4771178" cy="43889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INPUT: 3 8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OUTPUT:</a:t>
            </a:r>
            <a:endParaRPr lang="en-US" sz="24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7" name="AutoShape 2" descr=", AI generated">
            <a:extLst>
              <a:ext uri="{FF2B5EF4-FFF2-40B4-BE49-F238E27FC236}">
                <a16:creationId xmlns:a16="http://schemas.microsoft.com/office/drawing/2014/main" id="{0F3EB9CB-F11D-9820-4EBB-56B20F5DDEF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90070" y="3276600"/>
            <a:ext cx="1258330" cy="1258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D07EC5DA-34F5-750B-3BC0-0FA925A7C8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07" y="619159"/>
            <a:ext cx="6148628" cy="5034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668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562</TotalTime>
  <Words>389</Words>
  <Application>Microsoft Office PowerPoint</Application>
  <PresentationFormat>Widescreen</PresentationFormat>
  <Paragraphs>55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Introduction to Computer Science and Programming</vt:lpstr>
      <vt:lpstr>Today…</vt:lpstr>
      <vt:lpstr>Hands on Practice Lab – Instructions and Rules </vt:lpstr>
      <vt:lpstr>Exercise 1: </vt:lpstr>
      <vt:lpstr>Exercise 2:</vt:lpstr>
      <vt:lpstr>Exercise 3: </vt:lpstr>
      <vt:lpstr>Exercise 4:  </vt:lpstr>
      <vt:lpstr>Instructions and Rules – Pay attention</vt:lpstr>
      <vt:lpstr>Exercise 5 </vt:lpstr>
      <vt:lpstr>Exercise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Muhammad Mohsin</cp:lastModifiedBy>
  <cp:revision>505</cp:revision>
  <dcterms:created xsi:type="dcterms:W3CDTF">2018-08-24T21:11:55Z</dcterms:created>
  <dcterms:modified xsi:type="dcterms:W3CDTF">2026-03-26T10:36:53Z</dcterms:modified>
</cp:coreProperties>
</file>