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337" r:id="rId3"/>
    <p:sldId id="449" r:id="rId4"/>
    <p:sldId id="437" r:id="rId5"/>
    <p:sldId id="455" r:id="rId6"/>
    <p:sldId id="444" r:id="rId7"/>
    <p:sldId id="452" r:id="rId8"/>
    <p:sldId id="453" r:id="rId9"/>
    <p:sldId id="454" r:id="rId10"/>
    <p:sldId id="473" r:id="rId11"/>
    <p:sldId id="457" r:id="rId12"/>
    <p:sldId id="472" r:id="rId13"/>
    <p:sldId id="45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18FF6-A753-4DB5-8437-F5704C497848}" v="6" dt="2026-04-08T22:45:10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64" autoAdjust="0"/>
    <p:restoredTop sz="70327" autoAdjust="0"/>
  </p:normalViewPr>
  <p:slideViewPr>
    <p:cSldViewPr snapToGrid="0" snapToObjects="1">
      <p:cViewPr varScale="1">
        <p:scale>
          <a:sx n="58" d="100"/>
          <a:sy n="58" d="100"/>
        </p:scale>
        <p:origin x="10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Mohsin" userId="df76b627-ce7c-4005-88dc-15e098f355fb" providerId="ADAL" clId="{3B62111D-8EFE-472B-9F97-00499F2BB5A4}"/>
    <pc:docChg chg="undo custSel addSld modSld sldOrd">
      <pc:chgData name="Muhammad Mohsin" userId="df76b627-ce7c-4005-88dc-15e098f355fb" providerId="ADAL" clId="{3B62111D-8EFE-472B-9F97-00499F2BB5A4}" dt="2026-04-08T22:53:04.541" v="192" actId="20577"/>
      <pc:docMkLst>
        <pc:docMk/>
      </pc:docMkLst>
      <pc:sldChg chg="modSp mod">
        <pc:chgData name="Muhammad Mohsin" userId="df76b627-ce7c-4005-88dc-15e098f355fb" providerId="ADAL" clId="{3B62111D-8EFE-472B-9F97-00499F2BB5A4}" dt="2026-04-08T22:53:04.541" v="192" actId="20577"/>
        <pc:sldMkLst>
          <pc:docMk/>
          <pc:sldMk cId="2818482663" sldId="256"/>
        </pc:sldMkLst>
        <pc:spChg chg="mod">
          <ac:chgData name="Muhammad Mohsin" userId="df76b627-ce7c-4005-88dc-15e098f355fb" providerId="ADAL" clId="{3B62111D-8EFE-472B-9F97-00499F2BB5A4}" dt="2026-04-08T22:53:04.541" v="192" actId="20577"/>
          <ac:spMkLst>
            <pc:docMk/>
            <pc:sldMk cId="2818482663" sldId="256"/>
            <ac:spMk id="3" creationId="{305C8C55-FA11-A041-9D33-F4E3D0C999CF}"/>
          </ac:spMkLst>
        </pc:spChg>
      </pc:sldChg>
      <pc:sldChg chg="modSp mod">
        <pc:chgData name="Muhammad Mohsin" userId="df76b627-ce7c-4005-88dc-15e098f355fb" providerId="ADAL" clId="{3B62111D-8EFE-472B-9F97-00499F2BB5A4}" dt="2026-04-08T22:51:59.229" v="189" actId="33524"/>
        <pc:sldMkLst>
          <pc:docMk/>
          <pc:sldMk cId="2915504808" sldId="337"/>
        </pc:sldMkLst>
        <pc:spChg chg="mod">
          <ac:chgData name="Muhammad Mohsin" userId="df76b627-ce7c-4005-88dc-15e098f355fb" providerId="ADAL" clId="{3B62111D-8EFE-472B-9F97-00499F2BB5A4}" dt="2026-04-08T22:51:59.229" v="189" actId="33524"/>
          <ac:spMkLst>
            <pc:docMk/>
            <pc:sldMk cId="2915504808" sldId="337"/>
            <ac:spMk id="3" creationId="{3401FB08-0D9A-744A-A038-1F1CE70734E6}"/>
          </ac:spMkLst>
        </pc:spChg>
        <pc:picChg chg="mod">
          <ac:chgData name="Muhammad Mohsin" userId="df76b627-ce7c-4005-88dc-15e098f355fb" providerId="ADAL" clId="{3B62111D-8EFE-472B-9F97-00499F2BB5A4}" dt="2026-04-08T22:43:10.507" v="147" actId="1076"/>
          <ac:picMkLst>
            <pc:docMk/>
            <pc:sldMk cId="2915504808" sldId="337"/>
            <ac:picMk id="6" creationId="{83A92065-D211-B6A8-D906-2C4DAB29B228}"/>
          </ac:picMkLst>
        </pc:picChg>
      </pc:sldChg>
      <pc:sldChg chg="modSp mod">
        <pc:chgData name="Muhammad Mohsin" userId="df76b627-ce7c-4005-88dc-15e098f355fb" providerId="ADAL" clId="{3B62111D-8EFE-472B-9F97-00499F2BB5A4}" dt="2026-04-08T22:50:32.721" v="181" actId="113"/>
        <pc:sldMkLst>
          <pc:docMk/>
          <pc:sldMk cId="1522195308" sldId="437"/>
        </pc:sldMkLst>
        <pc:spChg chg="mod">
          <ac:chgData name="Muhammad Mohsin" userId="df76b627-ce7c-4005-88dc-15e098f355fb" providerId="ADAL" clId="{3B62111D-8EFE-472B-9F97-00499F2BB5A4}" dt="2026-04-08T22:50:23.358" v="178" actId="20577"/>
          <ac:spMkLst>
            <pc:docMk/>
            <pc:sldMk cId="1522195308" sldId="437"/>
            <ac:spMk id="7" creationId="{FECAE0A7-0B89-8120-9325-6028752B494E}"/>
          </ac:spMkLst>
        </pc:spChg>
        <pc:spChg chg="mod">
          <ac:chgData name="Muhammad Mohsin" userId="df76b627-ce7c-4005-88dc-15e098f355fb" providerId="ADAL" clId="{3B62111D-8EFE-472B-9F97-00499F2BB5A4}" dt="2026-04-08T22:50:32.721" v="181" actId="113"/>
          <ac:spMkLst>
            <pc:docMk/>
            <pc:sldMk cId="1522195308" sldId="437"/>
            <ac:spMk id="27" creationId="{4BD67ABE-AB0F-9A4B-F3A7-06AE041A5896}"/>
          </ac:spMkLst>
        </pc:spChg>
        <pc:picChg chg="mod">
          <ac:chgData name="Muhammad Mohsin" userId="df76b627-ce7c-4005-88dc-15e098f355fb" providerId="ADAL" clId="{3B62111D-8EFE-472B-9F97-00499F2BB5A4}" dt="2026-04-08T22:50:27.621" v="179" actId="1076"/>
          <ac:picMkLst>
            <pc:docMk/>
            <pc:sldMk cId="1522195308" sldId="437"/>
            <ac:picMk id="15" creationId="{B6491245-C11B-A77E-D399-9F25AE3E0999}"/>
          </ac:picMkLst>
        </pc:picChg>
      </pc:sldChg>
      <pc:sldChg chg="delSp modSp mod modNotesTx">
        <pc:chgData name="Muhammad Mohsin" userId="df76b627-ce7c-4005-88dc-15e098f355fb" providerId="ADAL" clId="{3B62111D-8EFE-472B-9F97-00499F2BB5A4}" dt="2026-04-08T22:44:36.066" v="152" actId="108"/>
        <pc:sldMkLst>
          <pc:docMk/>
          <pc:sldMk cId="3162858995" sldId="444"/>
        </pc:sldMkLst>
        <pc:spChg chg="mod">
          <ac:chgData name="Muhammad Mohsin" userId="df76b627-ce7c-4005-88dc-15e098f355fb" providerId="ADAL" clId="{3B62111D-8EFE-472B-9F97-00499F2BB5A4}" dt="2026-04-08T21:16:06.661" v="22"/>
          <ac:spMkLst>
            <pc:docMk/>
            <pc:sldMk cId="3162858995" sldId="444"/>
            <ac:spMk id="2" creationId="{EA70486A-4CE4-5E5B-6F8D-B8305DBA4B05}"/>
          </ac:spMkLst>
        </pc:spChg>
        <pc:spChg chg="mod">
          <ac:chgData name="Muhammad Mohsin" userId="df76b627-ce7c-4005-88dc-15e098f355fb" providerId="ADAL" clId="{3B62111D-8EFE-472B-9F97-00499F2BB5A4}" dt="2026-04-08T22:44:36.066" v="152" actId="108"/>
          <ac:spMkLst>
            <pc:docMk/>
            <pc:sldMk cId="3162858995" sldId="444"/>
            <ac:spMk id="3" creationId="{0FFABF5E-BBE6-34D5-5431-51470CF63EF6}"/>
          </ac:spMkLst>
        </pc:spChg>
        <pc:spChg chg="del">
          <ac:chgData name="Muhammad Mohsin" userId="df76b627-ce7c-4005-88dc-15e098f355fb" providerId="ADAL" clId="{3B62111D-8EFE-472B-9F97-00499F2BB5A4}" dt="2026-04-08T21:16:22.678" v="24" actId="478"/>
          <ac:spMkLst>
            <pc:docMk/>
            <pc:sldMk cId="3162858995" sldId="444"/>
            <ac:spMk id="5" creationId="{931D11DE-31A7-AA7C-09CA-BD8868606CDA}"/>
          </ac:spMkLst>
        </pc:spChg>
        <pc:picChg chg="del mod">
          <ac:chgData name="Muhammad Mohsin" userId="df76b627-ce7c-4005-88dc-15e098f355fb" providerId="ADAL" clId="{3B62111D-8EFE-472B-9F97-00499F2BB5A4}" dt="2026-04-08T22:35:51.240" v="85" actId="478"/>
          <ac:picMkLst>
            <pc:docMk/>
            <pc:sldMk cId="3162858995" sldId="444"/>
            <ac:picMk id="7" creationId="{624F4C78-9403-2DC9-0703-4EBD4427195D}"/>
          </ac:picMkLst>
        </pc:picChg>
      </pc:sldChg>
      <pc:sldChg chg="modSp mod">
        <pc:chgData name="Muhammad Mohsin" userId="df76b627-ce7c-4005-88dc-15e098f355fb" providerId="ADAL" clId="{3B62111D-8EFE-472B-9F97-00499F2BB5A4}" dt="2026-04-08T22:50:08.385" v="175" actId="1076"/>
        <pc:sldMkLst>
          <pc:docMk/>
          <pc:sldMk cId="808284877" sldId="449"/>
        </pc:sldMkLst>
        <pc:spChg chg="mod">
          <ac:chgData name="Muhammad Mohsin" userId="df76b627-ce7c-4005-88dc-15e098f355fb" providerId="ADAL" clId="{3B62111D-8EFE-472B-9F97-00499F2BB5A4}" dt="2026-04-08T22:49:59.069" v="174" actId="14100"/>
          <ac:spMkLst>
            <pc:docMk/>
            <pc:sldMk cId="808284877" sldId="449"/>
            <ac:spMk id="7" creationId="{EA2FF047-7BD7-394E-BA73-7854FA86C1D1}"/>
          </ac:spMkLst>
        </pc:spChg>
        <pc:picChg chg="mod">
          <ac:chgData name="Muhammad Mohsin" userId="df76b627-ce7c-4005-88dc-15e098f355fb" providerId="ADAL" clId="{3B62111D-8EFE-472B-9F97-00499F2BB5A4}" dt="2026-04-08T22:50:08.385" v="175" actId="1076"/>
          <ac:picMkLst>
            <pc:docMk/>
            <pc:sldMk cId="808284877" sldId="449"/>
            <ac:picMk id="8" creationId="{FF37483E-5B2A-DB0C-DD5C-E127CF805203}"/>
          </ac:picMkLst>
        </pc:picChg>
      </pc:sldChg>
      <pc:sldChg chg="modSp mod">
        <pc:chgData name="Muhammad Mohsin" userId="df76b627-ce7c-4005-88dc-15e098f355fb" providerId="ADAL" clId="{3B62111D-8EFE-472B-9F97-00499F2BB5A4}" dt="2026-04-08T22:52:15.873" v="190" actId="108"/>
        <pc:sldMkLst>
          <pc:docMk/>
          <pc:sldMk cId="807086950" sldId="454"/>
        </pc:sldMkLst>
        <pc:spChg chg="mod">
          <ac:chgData name="Muhammad Mohsin" userId="df76b627-ce7c-4005-88dc-15e098f355fb" providerId="ADAL" clId="{3B62111D-8EFE-472B-9F97-00499F2BB5A4}" dt="2026-04-08T22:52:15.873" v="190" actId="108"/>
          <ac:spMkLst>
            <pc:docMk/>
            <pc:sldMk cId="807086950" sldId="454"/>
            <ac:spMk id="3" creationId="{0BB24461-3480-C3F2-29CF-53255C8C1201}"/>
          </ac:spMkLst>
        </pc:spChg>
      </pc:sldChg>
      <pc:sldChg chg="modSp mod ord">
        <pc:chgData name="Muhammad Mohsin" userId="df76b627-ce7c-4005-88dc-15e098f355fb" providerId="ADAL" clId="{3B62111D-8EFE-472B-9F97-00499F2BB5A4}" dt="2026-04-08T22:46:09.843" v="168" actId="122"/>
        <pc:sldMkLst>
          <pc:docMk/>
          <pc:sldMk cId="3457810740" sldId="455"/>
        </pc:sldMkLst>
        <pc:spChg chg="mod">
          <ac:chgData name="Muhammad Mohsin" userId="df76b627-ce7c-4005-88dc-15e098f355fb" providerId="ADAL" clId="{3B62111D-8EFE-472B-9F97-00499F2BB5A4}" dt="2026-04-08T22:46:09.843" v="168" actId="122"/>
          <ac:spMkLst>
            <pc:docMk/>
            <pc:sldMk cId="3457810740" sldId="455"/>
            <ac:spMk id="4" creationId="{F98A85D7-17FE-96CD-8087-AAA458302DA1}"/>
          </ac:spMkLst>
        </pc:spChg>
      </pc:sldChg>
      <pc:sldChg chg="modSp mod">
        <pc:chgData name="Muhammad Mohsin" userId="df76b627-ce7c-4005-88dc-15e098f355fb" providerId="ADAL" clId="{3B62111D-8EFE-472B-9F97-00499F2BB5A4}" dt="2026-04-08T22:26:16.140" v="31" actId="20577"/>
        <pc:sldMkLst>
          <pc:docMk/>
          <pc:sldMk cId="2434911012" sldId="456"/>
        </pc:sldMkLst>
        <pc:spChg chg="mod">
          <ac:chgData name="Muhammad Mohsin" userId="df76b627-ce7c-4005-88dc-15e098f355fb" providerId="ADAL" clId="{3B62111D-8EFE-472B-9F97-00499F2BB5A4}" dt="2026-04-08T22:26:16.140" v="31" actId="20577"/>
          <ac:spMkLst>
            <pc:docMk/>
            <pc:sldMk cId="2434911012" sldId="456"/>
            <ac:spMk id="2" creationId="{8F967DD3-9A52-C043-F43C-8C5E197B93C6}"/>
          </ac:spMkLst>
        </pc:spChg>
      </pc:sldChg>
      <pc:sldChg chg="addSp delSp modSp add mod modNotesTx">
        <pc:chgData name="Muhammad Mohsin" userId="df76b627-ce7c-4005-88dc-15e098f355fb" providerId="ADAL" clId="{3B62111D-8EFE-472B-9F97-00499F2BB5A4}" dt="2026-04-08T22:45:28.758" v="161" actId="1076"/>
        <pc:sldMkLst>
          <pc:docMk/>
          <pc:sldMk cId="23588837" sldId="473"/>
        </pc:sldMkLst>
        <pc:spChg chg="mod">
          <ac:chgData name="Muhammad Mohsin" userId="df76b627-ce7c-4005-88dc-15e098f355fb" providerId="ADAL" clId="{3B62111D-8EFE-472B-9F97-00499F2BB5A4}" dt="2026-04-08T22:34:25.740" v="71"/>
          <ac:spMkLst>
            <pc:docMk/>
            <pc:sldMk cId="23588837" sldId="473"/>
            <ac:spMk id="2" creationId="{904C34F7-CF02-C66D-C79E-C771FE4A10F1}"/>
          </ac:spMkLst>
        </pc:spChg>
        <pc:spChg chg="mod">
          <ac:chgData name="Muhammad Mohsin" userId="df76b627-ce7c-4005-88dc-15e098f355fb" providerId="ADAL" clId="{3B62111D-8EFE-472B-9F97-00499F2BB5A4}" dt="2026-04-08T22:45:23.071" v="160" actId="20577"/>
          <ac:spMkLst>
            <pc:docMk/>
            <pc:sldMk cId="23588837" sldId="473"/>
            <ac:spMk id="3" creationId="{384C9991-90BE-2321-62FC-8AEEAB824E05}"/>
          </ac:spMkLst>
        </pc:spChg>
        <pc:spChg chg="del">
          <ac:chgData name="Muhammad Mohsin" userId="df76b627-ce7c-4005-88dc-15e098f355fb" providerId="ADAL" clId="{3B62111D-8EFE-472B-9F97-00499F2BB5A4}" dt="2026-04-08T22:27:41.562" v="38" actId="478"/>
          <ac:spMkLst>
            <pc:docMk/>
            <pc:sldMk cId="23588837" sldId="473"/>
            <ac:spMk id="5" creationId="{1B8A46FE-EE0B-330B-870F-271FE4A8FA97}"/>
          </ac:spMkLst>
        </pc:spChg>
        <pc:spChg chg="add mod">
          <ac:chgData name="Muhammad Mohsin" userId="df76b627-ce7c-4005-88dc-15e098f355fb" providerId="ADAL" clId="{3B62111D-8EFE-472B-9F97-00499F2BB5A4}" dt="2026-04-08T22:28:20.216" v="43" actId="108"/>
          <ac:spMkLst>
            <pc:docMk/>
            <pc:sldMk cId="23588837" sldId="473"/>
            <ac:spMk id="6" creationId="{34AFBAD3-0EB5-078B-C738-56E2F6EBBB40}"/>
          </ac:spMkLst>
        </pc:spChg>
        <pc:picChg chg="mod">
          <ac:chgData name="Muhammad Mohsin" userId="df76b627-ce7c-4005-88dc-15e098f355fb" providerId="ADAL" clId="{3B62111D-8EFE-472B-9F97-00499F2BB5A4}" dt="2026-04-08T22:45:28.758" v="161" actId="1076"/>
          <ac:picMkLst>
            <pc:docMk/>
            <pc:sldMk cId="23588837" sldId="473"/>
            <ac:picMk id="7" creationId="{AADF2CB0-AAA4-C20A-F7D0-A5C13BA6002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0FCA9-0CFE-42A3-A366-AC257B7FB50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42C0-23EF-43A4-A898-463C1845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5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will do Dynamic allocation and dynamic arrays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88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85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06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335C-5959-7734-C3B2-C5F1ED3E9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12C8E-76E9-DB63-D88C-84AE02635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BC6A9-8CDF-69FF-DEB7-CDD6F392C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D3D73-10EB-183C-3212-DDA34E3A6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21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capacity;</a:t>
            </a:r>
          </a:p>
          <a:p>
            <a:endParaRPr lang="en-US" dirty="0"/>
          </a:p>
          <a:p>
            <a:r>
              <a:rPr lang="en-US" dirty="0"/>
              <a:t>    // Get initial capacity from user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initial array capacity: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capacity;</a:t>
            </a:r>
          </a:p>
          <a:p>
            <a:endParaRPr lang="en-US" dirty="0"/>
          </a:p>
          <a:p>
            <a:r>
              <a:rPr lang="en-US" dirty="0"/>
              <a:t>    // Dynamically allocate initial array</a:t>
            </a:r>
          </a:p>
          <a:p>
            <a:r>
              <a:rPr lang="en-US" dirty="0"/>
              <a:t>    int* </a:t>
            </a:r>
            <a:r>
              <a:rPr lang="en-US" dirty="0" err="1"/>
              <a:t>arr</a:t>
            </a:r>
            <a:r>
              <a:rPr lang="en-US" dirty="0"/>
              <a:t> = new int[capacity];</a:t>
            </a:r>
          </a:p>
          <a:p>
            <a:r>
              <a:rPr lang="en-US" dirty="0"/>
              <a:t>    int size = 0;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nEnter</a:t>
            </a:r>
            <a:r>
              <a:rPr lang="en-US" dirty="0"/>
              <a:t> integers to insert (-1 to stop):\n";</a:t>
            </a:r>
          </a:p>
          <a:p>
            <a:endParaRPr lang="en-US" dirty="0"/>
          </a:p>
          <a:p>
            <a:r>
              <a:rPr lang="en-US" dirty="0"/>
              <a:t>    int value;</a:t>
            </a:r>
          </a:p>
          <a:p>
            <a:r>
              <a:rPr lang="en-US" dirty="0"/>
              <a:t>    while (true)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"Enter value: ";</a:t>
            </a:r>
          </a:p>
          <a:p>
            <a:r>
              <a:rPr lang="en-US" dirty="0"/>
              <a:t>        </a:t>
            </a:r>
            <a:r>
              <a:rPr lang="en-US" dirty="0" err="1"/>
              <a:t>cin</a:t>
            </a:r>
            <a:r>
              <a:rPr lang="en-US" dirty="0"/>
              <a:t> &gt;&gt; value;</a:t>
            </a:r>
          </a:p>
          <a:p>
            <a:endParaRPr lang="en-US" dirty="0"/>
          </a:p>
          <a:p>
            <a:r>
              <a:rPr lang="en-US" dirty="0"/>
              <a:t>        if (value == -1)</a:t>
            </a:r>
          </a:p>
          <a:p>
            <a:r>
              <a:rPr lang="en-US" dirty="0"/>
              <a:t>            break;</a:t>
            </a:r>
          </a:p>
          <a:p>
            <a:endParaRPr lang="en-US" dirty="0"/>
          </a:p>
          <a:p>
            <a:r>
              <a:rPr lang="en-US" dirty="0"/>
              <a:t>        // Check if array is full — if so, double the capacity</a:t>
            </a:r>
          </a:p>
          <a:p>
            <a:r>
              <a:rPr lang="en-US" dirty="0"/>
              <a:t>        if (size == capacity) {</a:t>
            </a:r>
          </a:p>
          <a:p>
            <a:r>
              <a:rPr lang="en-US" dirty="0"/>
              <a:t>            int </a:t>
            </a:r>
            <a:r>
              <a:rPr lang="en-US" dirty="0" err="1"/>
              <a:t>newCapacity</a:t>
            </a:r>
            <a:r>
              <a:rPr lang="en-US" dirty="0"/>
              <a:t> = capacity * 2;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"\n  [!] Array full (capacity = " &lt;&lt; capacity &lt;&lt; ")"</a:t>
            </a:r>
          </a:p>
          <a:p>
            <a:r>
              <a:rPr lang="en-US" dirty="0"/>
              <a:t>                 &lt;&lt; " → Doubling to capacity = " &lt;&lt; </a:t>
            </a:r>
            <a:r>
              <a:rPr lang="en-US" dirty="0" err="1"/>
              <a:t>newCapacity</a:t>
            </a:r>
            <a:r>
              <a:rPr lang="en-US" dirty="0"/>
              <a:t> &lt;&lt; "\n\n";</a:t>
            </a:r>
          </a:p>
          <a:p>
            <a:endParaRPr lang="en-US" dirty="0"/>
          </a:p>
          <a:p>
            <a:r>
              <a:rPr lang="en-US" dirty="0"/>
              <a:t>            // Step 1: Allocate new larger array</a:t>
            </a:r>
          </a:p>
          <a:p>
            <a:r>
              <a:rPr lang="en-US" dirty="0"/>
              <a:t>            int* </a:t>
            </a:r>
            <a:r>
              <a:rPr lang="en-US" dirty="0" err="1"/>
              <a:t>newArr</a:t>
            </a:r>
            <a:r>
              <a:rPr lang="en-US" dirty="0"/>
              <a:t> = new int[</a:t>
            </a:r>
            <a:r>
              <a:rPr lang="en-US" dirty="0" err="1"/>
              <a:t>newCapacity</a:t>
            </a:r>
            <a:r>
              <a:rPr lang="en-US" dirty="0"/>
              <a:t>];</a:t>
            </a:r>
          </a:p>
          <a:p>
            <a:endParaRPr lang="en-US" dirty="0"/>
          </a:p>
          <a:p>
            <a:r>
              <a:rPr lang="en-US" dirty="0"/>
              <a:t>            // Step 2: Copy all existing elements into new array</a:t>
            </a:r>
          </a:p>
          <a:p>
            <a:r>
              <a:rPr lang="en-US" dirty="0"/>
              <a:t>        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    </a:t>
            </a:r>
            <a:r>
              <a:rPr lang="en-US" dirty="0" err="1"/>
              <a:t>newArr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endParaRPr lang="en-US" dirty="0"/>
          </a:p>
          <a:p>
            <a:r>
              <a:rPr lang="en-US" dirty="0"/>
              <a:t>            // Step 3: Delete old array</a:t>
            </a:r>
          </a:p>
          <a:p>
            <a:r>
              <a:rPr lang="en-US" dirty="0"/>
              <a:t>            delete[] </a:t>
            </a:r>
            <a:r>
              <a:rPr lang="en-US" dirty="0" err="1"/>
              <a:t>arr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     // Step 4: Point to new array and update capacity</a:t>
            </a:r>
          </a:p>
          <a:p>
            <a:r>
              <a:rPr lang="en-US" dirty="0"/>
              <a:t>            </a:t>
            </a:r>
            <a:r>
              <a:rPr lang="en-US" dirty="0" err="1"/>
              <a:t>arr</a:t>
            </a:r>
            <a:r>
              <a:rPr lang="en-US" dirty="0"/>
              <a:t>      = </a:t>
            </a:r>
            <a:r>
              <a:rPr lang="en-US" dirty="0" err="1"/>
              <a:t>newArr</a:t>
            </a:r>
            <a:r>
              <a:rPr lang="en-US" dirty="0"/>
              <a:t>;</a:t>
            </a:r>
          </a:p>
          <a:p>
            <a:r>
              <a:rPr lang="en-US" dirty="0"/>
              <a:t>            capacity = </a:t>
            </a:r>
            <a:r>
              <a:rPr lang="en-US" dirty="0" err="1"/>
              <a:t>newCapacity</a:t>
            </a:r>
            <a:r>
              <a:rPr lang="en-US" dirty="0"/>
              <a:t>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// Insert value into array</a:t>
            </a:r>
          </a:p>
          <a:p>
            <a:r>
              <a:rPr lang="en-US" dirty="0"/>
              <a:t>        </a:t>
            </a:r>
            <a:r>
              <a:rPr lang="en-US" dirty="0" err="1"/>
              <a:t>arr</a:t>
            </a:r>
            <a:r>
              <a:rPr lang="en-US" dirty="0"/>
              <a:t>[size++] = value;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Print final array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nFinal</a:t>
            </a:r>
            <a:r>
              <a:rPr lang="en-US" dirty="0"/>
              <a:t> array (size = " &lt;&lt; size</a:t>
            </a:r>
          </a:p>
          <a:p>
            <a:r>
              <a:rPr lang="en-US" dirty="0"/>
              <a:t>         &lt;&lt; ", capacity = " &lt;&lt; capacity &lt;&lt; "):\n[";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if (</a:t>
            </a:r>
            <a:r>
              <a:rPr lang="en-US" dirty="0" err="1"/>
              <a:t>i</a:t>
            </a:r>
            <a:r>
              <a:rPr lang="en-US" dirty="0"/>
              <a:t> &lt; size - 1) </a:t>
            </a:r>
            <a:r>
              <a:rPr lang="en-US" dirty="0" err="1"/>
              <a:t>cout</a:t>
            </a:r>
            <a:r>
              <a:rPr lang="en-US" dirty="0"/>
              <a:t> &lt;&lt; ", 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"]\n";</a:t>
            </a:r>
          </a:p>
          <a:p>
            <a:endParaRPr lang="en-US" dirty="0"/>
          </a:p>
          <a:p>
            <a:r>
              <a:rPr lang="en-US" dirty="0"/>
              <a:t>    // Free allocated memory</a:t>
            </a:r>
          </a:p>
          <a:p>
            <a:r>
              <a:rPr lang="en-US" dirty="0"/>
              <a:t>    delete[] </a:t>
            </a:r>
            <a:r>
              <a:rPr lang="en-US" dirty="0" err="1"/>
              <a:t>arr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53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9FF77-60E5-941E-FBEF-7A05F01B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E00F2-89B5-67C7-7292-518041607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9C10C-0563-14B0-4F67-D99079973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Get array size from user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array size: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Dynamically allocate array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Initialize array with values 1 to n (step 2)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Generates odd numbers 1, 3, 5,...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Display original array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"Original array: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Reverse the array in-place (without extra memory)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// Swap elements from start and end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Display reversed array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"Reversed array: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Deallocate memory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24AEA-40BF-4774-824B-018A3045E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57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DA64-A553-9F59-3EBE-8CC572E66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59443-CDF9-7B03-90A7-4C712ABA6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A9FF8-2D97-097C-664A-5E507A24C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n;</a:t>
            </a:r>
          </a:p>
          <a:p>
            <a:endParaRPr lang="en-US" dirty="0"/>
          </a:p>
          <a:p>
            <a:r>
              <a:rPr lang="en-US" dirty="0"/>
              <a:t>    // Get array size from user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number of elements: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n;</a:t>
            </a:r>
          </a:p>
          <a:p>
            <a:endParaRPr lang="en-US" dirty="0"/>
          </a:p>
          <a:p>
            <a:r>
              <a:rPr lang="en-US" dirty="0"/>
              <a:t>    // Dynamically allocate the original array</a:t>
            </a:r>
          </a:p>
          <a:p>
            <a:r>
              <a:rPr lang="en-US" dirty="0"/>
              <a:t>    int* </a:t>
            </a:r>
            <a:r>
              <a:rPr lang="en-US" dirty="0" err="1"/>
              <a:t>originalArray</a:t>
            </a:r>
            <a:r>
              <a:rPr lang="en-US" dirty="0"/>
              <a:t> = new int[n];</a:t>
            </a:r>
          </a:p>
          <a:p>
            <a:endParaRPr lang="en-US" dirty="0"/>
          </a:p>
          <a:p>
            <a:r>
              <a:rPr lang="en-US" dirty="0"/>
              <a:t>    // Input values from user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" &lt;&lt; n &lt;&lt; " integers:\n";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cin</a:t>
            </a:r>
            <a:r>
              <a:rPr lang="en-US" dirty="0"/>
              <a:t> &gt;&gt; </a:t>
            </a:r>
            <a:r>
              <a:rPr lang="en-US" dirty="0" err="1"/>
              <a:t>originalArray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First pass: count odd numbers</a:t>
            </a:r>
          </a:p>
          <a:p>
            <a:r>
              <a:rPr lang="en-US" dirty="0"/>
              <a:t>    int </a:t>
            </a:r>
            <a:r>
              <a:rPr lang="en-US" dirty="0" err="1"/>
              <a:t>oddCount</a:t>
            </a:r>
            <a:r>
              <a:rPr lang="en-US" dirty="0"/>
              <a:t> = 0;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if (</a:t>
            </a:r>
            <a:r>
              <a:rPr lang="en-US" dirty="0" err="1"/>
              <a:t>originalArray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% 2 != 0) {</a:t>
            </a:r>
          </a:p>
          <a:p>
            <a:r>
              <a:rPr lang="en-US" dirty="0"/>
              <a:t>            </a:t>
            </a:r>
            <a:r>
              <a:rPr lang="en-US" dirty="0" err="1"/>
              <a:t>oddCount</a:t>
            </a:r>
            <a:r>
              <a:rPr lang="en-US" dirty="0"/>
              <a:t>++;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Dynamically allocate array for odd numbers</a:t>
            </a:r>
          </a:p>
          <a:p>
            <a:r>
              <a:rPr lang="en-US" dirty="0"/>
              <a:t>    int* </a:t>
            </a:r>
            <a:r>
              <a:rPr lang="en-US" dirty="0" err="1"/>
              <a:t>oddArray</a:t>
            </a:r>
            <a:r>
              <a:rPr lang="en-US" dirty="0"/>
              <a:t> = new int[</a:t>
            </a:r>
            <a:r>
              <a:rPr lang="en-US" dirty="0" err="1"/>
              <a:t>oddCount</a:t>
            </a:r>
            <a:r>
              <a:rPr lang="en-US" dirty="0"/>
              <a:t>];</a:t>
            </a:r>
          </a:p>
          <a:p>
            <a:endParaRPr lang="en-US" dirty="0"/>
          </a:p>
          <a:p>
            <a:r>
              <a:rPr lang="en-US" dirty="0"/>
              <a:t>    // Second pass: copy odd numbers</a:t>
            </a:r>
          </a:p>
          <a:p>
            <a:r>
              <a:rPr lang="en-US" dirty="0"/>
              <a:t>    int index = 0;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if (</a:t>
            </a:r>
            <a:r>
              <a:rPr lang="en-US" dirty="0" err="1"/>
              <a:t>originalArray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% 2 != 0) {</a:t>
            </a:r>
          </a:p>
          <a:p>
            <a:r>
              <a:rPr lang="en-US" dirty="0"/>
              <a:t>            </a:t>
            </a:r>
            <a:r>
              <a:rPr lang="en-US" dirty="0" err="1"/>
              <a:t>oddArray</a:t>
            </a:r>
            <a:r>
              <a:rPr lang="en-US" dirty="0"/>
              <a:t>[index] = </a:t>
            </a:r>
            <a:r>
              <a:rPr lang="en-US" dirty="0" err="1"/>
              <a:t>originalArray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index++;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Display results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"Original array: [";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originalArray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if (</a:t>
            </a:r>
            <a:r>
              <a:rPr lang="en-US" dirty="0" err="1"/>
              <a:t>i</a:t>
            </a:r>
            <a:r>
              <a:rPr lang="en-US" dirty="0"/>
              <a:t> &lt; n - 1) </a:t>
            </a:r>
            <a:r>
              <a:rPr lang="en-US" dirty="0" err="1"/>
              <a:t>cout</a:t>
            </a:r>
            <a:r>
              <a:rPr lang="en-US" dirty="0"/>
              <a:t> &lt;&lt; ", 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"]"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"Odd numbers array: [";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oddCount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oddArray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if (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oddCount</a:t>
            </a:r>
            <a:r>
              <a:rPr lang="en-US" dirty="0"/>
              <a:t> - 1) </a:t>
            </a:r>
            <a:r>
              <a:rPr lang="en-US" dirty="0" err="1"/>
              <a:t>cout</a:t>
            </a:r>
            <a:r>
              <a:rPr lang="en-US" dirty="0"/>
              <a:t> &lt;&lt; ", 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"]"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Deallocate memory</a:t>
            </a:r>
          </a:p>
          <a:p>
            <a:r>
              <a:rPr lang="en-US" dirty="0"/>
              <a:t>    delete[] </a:t>
            </a:r>
            <a:r>
              <a:rPr lang="en-US" dirty="0" err="1"/>
              <a:t>originalArray</a:t>
            </a:r>
            <a:r>
              <a:rPr lang="en-US" dirty="0"/>
              <a:t>;</a:t>
            </a:r>
          </a:p>
          <a:p>
            <a:r>
              <a:rPr lang="en-US" dirty="0"/>
              <a:t>    delete[] </a:t>
            </a:r>
            <a:r>
              <a:rPr lang="en-US" dirty="0" err="1"/>
              <a:t>oddArray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DAB42-CECE-1878-00D2-82EA7DE1B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7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3399-F071-229C-716F-786EDF0B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1CFFB-F11C-4629-0637-FBBAB83E6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79D74-C55F-15FA-DDAA-CAEE14048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n;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Get array size from user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number of elements: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n;</a:t>
            </a:r>
          </a:p>
          <a:p>
            <a:endParaRPr lang="en-US" dirty="0"/>
          </a:p>
          <a:p>
            <a:r>
              <a:rPr lang="en-US" dirty="0"/>
              <a:t>    // Dynamically allocate float array</a:t>
            </a:r>
          </a:p>
          <a:p>
            <a:r>
              <a:rPr lang="en-US" dirty="0"/>
              <a:t>    float* </a:t>
            </a:r>
            <a:r>
              <a:rPr lang="en-US" dirty="0" err="1"/>
              <a:t>arr</a:t>
            </a:r>
            <a:r>
              <a:rPr lang="en-US" dirty="0"/>
              <a:t> = new float[n];</a:t>
            </a:r>
          </a:p>
          <a:p>
            <a:endParaRPr lang="en-US" dirty="0"/>
          </a:p>
          <a:p>
            <a:r>
              <a:rPr lang="en-US" dirty="0"/>
              <a:t>    // Input values from user and calculate sum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" &lt;&lt; n &lt;&lt; " float numbers:\n";</a:t>
            </a:r>
          </a:p>
          <a:p>
            <a:r>
              <a:rPr lang="en-US" dirty="0"/>
              <a:t>    float sum = 0;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cin</a:t>
            </a:r>
            <a:r>
              <a:rPr lang="en-US" dirty="0"/>
              <a:t> &gt;&gt;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sum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Calculate average</a:t>
            </a:r>
          </a:p>
          <a:p>
            <a:r>
              <a:rPr lang="en-US" dirty="0"/>
              <a:t>    float average = sum / n;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"Average = " &lt;&lt; average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Print values greater than average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"Values greater than average: ";</a:t>
            </a:r>
          </a:p>
          <a:p>
            <a:r>
              <a:rPr lang="en-US" dirty="0"/>
              <a:t>    bool first = true; // For proper comma formatting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if 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&gt; average) {</a:t>
            </a:r>
          </a:p>
          <a:p>
            <a:r>
              <a:rPr lang="en-US" dirty="0"/>
              <a:t>            if (!first) {</a:t>
            </a:r>
          </a:p>
          <a:p>
            <a:r>
              <a:rPr lang="en-US" dirty="0"/>
              <a:t>                </a:t>
            </a:r>
            <a:r>
              <a:rPr lang="en-US" dirty="0" err="1"/>
              <a:t>cout</a:t>
            </a:r>
            <a:r>
              <a:rPr lang="en-US" dirty="0"/>
              <a:t> &lt;&lt; ", ";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first = false;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Deallocate memory</a:t>
            </a:r>
          </a:p>
          <a:p>
            <a:r>
              <a:rPr lang="en-US" dirty="0"/>
              <a:t>    delete[] </a:t>
            </a:r>
            <a:r>
              <a:rPr lang="en-US" dirty="0" err="1"/>
              <a:t>arr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BEBC9-583F-5085-7574-4FC84CE9F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54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4FEFE-4E74-F404-6E75-F2E18DC4A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4441E-125E-8883-2874-BD30BF892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758EE-1B20-AC84-1AA4-8DF583639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</a:t>
            </a:r>
            <a:r>
              <a:rPr lang="en-US" dirty="0" err="1"/>
              <a:t>iomanip</a:t>
            </a:r>
            <a:r>
              <a:rPr lang="en-US" dirty="0"/>
              <a:t>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m, n;</a:t>
            </a:r>
          </a:p>
          <a:p>
            <a:endParaRPr lang="en-US" dirty="0"/>
          </a:p>
          <a:p>
            <a:r>
              <a:rPr lang="en-US" dirty="0"/>
              <a:t>    // Get matrix dimensions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number of rows (m):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m;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number of columns (n):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n;</a:t>
            </a:r>
          </a:p>
          <a:p>
            <a:endParaRPr lang="en-US" dirty="0"/>
          </a:p>
          <a:p>
            <a:r>
              <a:rPr lang="en-US" dirty="0"/>
              <a:t>    // Dynamically allocate 2D array</a:t>
            </a:r>
          </a:p>
          <a:p>
            <a:r>
              <a:rPr lang="en-US" dirty="0"/>
              <a:t>    float** matrix = new float*[m];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m;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matrix[</a:t>
            </a:r>
            <a:r>
              <a:rPr lang="en-US" dirty="0" err="1"/>
              <a:t>i</a:t>
            </a:r>
            <a:r>
              <a:rPr lang="en-US" dirty="0"/>
              <a:t>] = new float[n];</a:t>
            </a:r>
          </a:p>
          <a:p>
            <a:endParaRPr lang="en-US" dirty="0"/>
          </a:p>
          <a:p>
            <a:r>
              <a:rPr lang="en-US" dirty="0"/>
              <a:t>    // Get user input values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nEnter</a:t>
            </a:r>
            <a:r>
              <a:rPr lang="en-US" dirty="0"/>
              <a:t> " &lt;&lt; m * n &lt;&lt; " float values row by row:\n";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m;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"Row " &lt;&lt; </a:t>
            </a:r>
            <a:r>
              <a:rPr lang="en-US" dirty="0" err="1"/>
              <a:t>i</a:t>
            </a:r>
            <a:r>
              <a:rPr lang="en-US" dirty="0"/>
              <a:t> + 1 &lt;&lt; ": ";</a:t>
            </a:r>
          </a:p>
          <a:p>
            <a:r>
              <a:rPr lang="en-US" dirty="0"/>
              <a:t>        for (int j = 0; j &lt; n;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 </a:t>
            </a:r>
            <a:r>
              <a:rPr lang="en-US" dirty="0" err="1"/>
              <a:t>cin</a:t>
            </a:r>
            <a:r>
              <a:rPr lang="en-US" dirty="0"/>
              <a:t> &gt;&gt; matrix[</a:t>
            </a:r>
            <a:r>
              <a:rPr lang="en-US" dirty="0" err="1"/>
              <a:t>i</a:t>
            </a:r>
            <a:r>
              <a:rPr lang="en-US" dirty="0"/>
              <a:t>][j];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Print the matrix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nMatrix</a:t>
            </a:r>
            <a:r>
              <a:rPr lang="en-US" dirty="0"/>
              <a:t> (" &lt;&lt; m &lt;&lt; " x " &lt;&lt; n &lt;&lt; "):\n";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m;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"[";</a:t>
            </a:r>
          </a:p>
          <a:p>
            <a:r>
              <a:rPr lang="en-US" dirty="0"/>
              <a:t>        for (int j = 0; j &lt; n;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fixed &lt;&lt; </a:t>
            </a:r>
            <a:r>
              <a:rPr lang="en-US" dirty="0" err="1"/>
              <a:t>setprecision</a:t>
            </a:r>
            <a:r>
              <a:rPr lang="en-US" dirty="0"/>
              <a:t>(1) &lt;&lt; matrix[</a:t>
            </a:r>
            <a:r>
              <a:rPr lang="en-US" dirty="0" err="1"/>
              <a:t>i</a:t>
            </a:r>
            <a:r>
              <a:rPr lang="en-US" dirty="0"/>
              <a:t>][j];</a:t>
            </a:r>
          </a:p>
          <a:p>
            <a:r>
              <a:rPr lang="en-US" dirty="0"/>
              <a:t>            if (j &lt; n - 1) </a:t>
            </a:r>
            <a:r>
              <a:rPr lang="en-US" dirty="0" err="1"/>
              <a:t>cout</a:t>
            </a:r>
            <a:r>
              <a:rPr lang="en-US" dirty="0"/>
              <a:t> &lt;&lt; " ";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"]\n";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Free allocated memory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m;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delete[] matrix[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delete[] matrix;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DC8DC-C68F-DC61-4F81-D88243055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02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E0775-BCDD-1A2A-AF6B-42040EDB7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302D0-B811-797C-4A0A-ED2A666AC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4DF24-062D-2964-AAAC-A47F8E346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944E3-A3D9-2723-41EE-8C538ED6D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79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6F42-0DF6-7F41-A35A-FAD2F3A3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5118C-DCD0-D744-9617-01D2A9E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4BA3-0746-D94F-BB7F-870DDBE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7CEF8-1452-9D41-8466-5951F62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86E8-A2DB-B848-B3C9-CA97BCB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DD6-1992-9043-B714-E15FE04C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DF830-82BD-4940-B114-F347544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5361-471F-A044-BEBB-8CBAA6C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41ED1-C88D-EA4F-B978-BEE093B0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2ADA-09B0-AE4B-879E-F1FD87E5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DA8A-9BBE-7A41-8D36-6E3401F2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CE368-6C1C-1F4F-9A0B-A5211067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D650C-963B-584D-B3F5-6E4FF673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31A2-10DA-A141-871E-943A441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2FE58-E0ED-DF46-B00E-0ABB4AD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F230-8CA3-FD41-BC35-F16072A5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3F09-FA53-FF4B-88EA-8333733C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783F1-26D1-5D40-9A12-02E2C1C4A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D1E2F-4257-FD4D-B3D9-E47CF61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070D5-3DBC-E74F-B653-0BC01C0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EBBD4-8056-8844-B52B-D89E3704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2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CCB-7DD4-1D41-A06D-D073F312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203ED-564C-1841-9E27-C469AF24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CAE46-1764-FF4C-B795-77329DDD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93BB7-AA0B-AE45-BC43-01AA5988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500C5-FF8D-4A4F-960F-F0BD75438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551B-73C4-A24B-BA74-6E6C59FE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AA90F-D25B-804A-8992-DAD4A2CC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5D27C-2D4C-1D47-BC1A-769018F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D391-3397-354D-B03E-D12F1FC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002E7-CCA7-D843-905A-9AEB830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2A30A-0D9D-664D-87CF-2DED1BF3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1BF79-1370-1B43-BD9F-350EC4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6B272-B2C5-5C44-A9FF-6C3AFEBA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27FDC-6F8C-154B-903B-628A43E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72E17-64B7-BF46-B1C6-65BB18EB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7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BB1C-2678-AA48-9EAF-24F13FE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7CEB6-1BB9-4A49-ACB0-B294E051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F701C-7C31-464D-92EA-6D3B097A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03C05-0FAD-C248-BE05-6ADFB2AC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B1321-CA8B-DA4A-9699-565D0453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AA9E-5516-8F4A-89E3-0BA6CCA9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1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98A0-2D96-C042-AE94-1F461E90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8718D-8B02-6E43-A518-6B8E6AC9E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7EA38-47E1-F74D-BEDD-93FF5F97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EDC4A-53DF-9B41-9417-85A9978E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F50B7-038B-4C40-AE33-C462DAA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6079-A2A4-7D43-8D24-D4072D56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CDF9-17F4-B740-85D3-83C240B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6216F-7B04-2D44-9728-4FFEAC9C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5E589-A29C-9240-9B7B-DA5B4AA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6D8C-BDEF-0A42-9921-042BECC4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49FE-9981-EA40-B956-84F8C87C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7DB6D-2F93-BB4A-A984-14FA758F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0E791-A971-0648-A185-CAE72D3D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20141-DA3E-4D42-91F1-761296C4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5213-671C-2342-9274-72F8719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D649-B5F0-954A-B270-A9E372A2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7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02454-00F4-AD46-96E3-90C0EA9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C4A82-1295-4445-851D-A797684F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C530-920B-6043-ACBC-31CFEDE86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6451-C226-B344-86F8-72EFF8FC2C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6808-1B08-7F46-B091-2263B0972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F617-8746-4F49-9226-590B558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D876-732D-0240-A8A5-4C20AE8DB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6013"/>
            <a:ext cx="9144000" cy="177935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Introduction to Computer Science and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8C55-FA11-A041-9D33-F4E3D0C99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4738"/>
            <a:ext cx="9144000" cy="2392362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Labo 16 – C++ Dynamic allocation </a:t>
            </a:r>
            <a:r>
              <a:rPr lang="en-US" sz="3200" b="1"/>
              <a:t>and dynamic </a:t>
            </a:r>
            <a:r>
              <a:rPr lang="en-US" sz="3200" b="1" dirty="0"/>
              <a:t>arrays</a:t>
            </a:r>
          </a:p>
          <a:p>
            <a:r>
              <a:rPr lang="en-US" sz="2800" dirty="0"/>
              <a:t>Laboratory 16, April 09, 2026</a:t>
            </a:r>
          </a:p>
          <a:p>
            <a:endParaRPr lang="en-US" sz="2800" dirty="0"/>
          </a:p>
          <a:p>
            <a:r>
              <a:rPr lang="en-US" sz="2800" b="1" dirty="0"/>
              <a:t>Filippo Ricca</a:t>
            </a:r>
            <a:r>
              <a:rPr lang="it-IT" sz="2000" b="1" dirty="0"/>
              <a:t> </a:t>
            </a:r>
            <a:r>
              <a:rPr lang="en-US" sz="2800" b="1" dirty="0"/>
              <a:t>&amp; Muhammad Mohsin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DIBRIS, University of Genova</a:t>
            </a:r>
          </a:p>
        </p:txBody>
      </p:sp>
    </p:spTree>
    <p:extLst>
      <p:ext uri="{BB962C8B-B14F-4D97-AF65-F5344CB8AC3E}">
        <p14:creationId xmlns:p14="http://schemas.microsoft.com/office/powerpoint/2010/main" val="281848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89" y="1596983"/>
            <a:ext cx="10779211" cy="2780146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Today's lab is dedicated to </a:t>
            </a:r>
            <a:r>
              <a:rPr lang="en-US" sz="3100" b="1" dirty="0">
                <a:solidFill>
                  <a:srgbClr val="C00000"/>
                </a:solidFill>
              </a:rPr>
              <a:t>dynamic allocation and dynamic arrays</a:t>
            </a:r>
          </a:p>
          <a:p>
            <a:pPr lvl="1" algn="just"/>
            <a:r>
              <a:rPr lang="en-US" dirty="0"/>
              <a:t>Exercise 1: </a:t>
            </a:r>
            <a:r>
              <a:rPr lang="en-US" b="1" dirty="0"/>
              <a:t>Resizing Dynamic Array</a:t>
            </a:r>
          </a:p>
          <a:p>
            <a:pPr lvl="1" algn="just"/>
            <a:r>
              <a:rPr lang="en-US" dirty="0"/>
              <a:t>Exercise 2: </a:t>
            </a:r>
            <a:r>
              <a:rPr lang="en-US" b="1" dirty="0"/>
              <a:t>Dynamic Array Reversal</a:t>
            </a:r>
          </a:p>
          <a:p>
            <a:pPr lvl="1" algn="just"/>
            <a:r>
              <a:rPr lang="en-US" dirty="0"/>
              <a:t>Exercise 3: </a:t>
            </a:r>
            <a:r>
              <a:rPr lang="fr-FR" sz="2400" b="1" dirty="0" err="1"/>
              <a:t>Greater</a:t>
            </a:r>
            <a:r>
              <a:rPr lang="fr-FR" sz="2400" b="1" dirty="0"/>
              <a:t> </a:t>
            </a:r>
            <a:r>
              <a:rPr lang="fr-FR" sz="2400" b="1" dirty="0" err="1"/>
              <a:t>than</a:t>
            </a:r>
            <a:r>
              <a:rPr lang="fr-FR" sz="2400" b="1" dirty="0"/>
              <a:t> </a:t>
            </a:r>
            <a:r>
              <a:rPr lang="fr-FR" b="1" dirty="0" err="1"/>
              <a:t>A</a:t>
            </a:r>
            <a:r>
              <a:rPr lang="fr-FR" sz="2400" b="1" dirty="0" err="1"/>
              <a:t>verage</a:t>
            </a:r>
            <a:r>
              <a:rPr lang="fr-FR" sz="2400" b="1" dirty="0"/>
              <a:t> </a:t>
            </a:r>
            <a:r>
              <a:rPr lang="fr-FR" b="1" dirty="0" err="1"/>
              <a:t>N</a:t>
            </a:r>
            <a:r>
              <a:rPr lang="fr-FR" sz="2400" b="1" dirty="0" err="1"/>
              <a:t>umber</a:t>
            </a:r>
            <a:endParaRPr lang="fr-FR" sz="2400" b="1" dirty="0"/>
          </a:p>
          <a:p>
            <a:pPr lvl="1" algn="just"/>
            <a:r>
              <a:rPr lang="en-US" dirty="0"/>
              <a:t>Exercise 4: </a:t>
            </a:r>
            <a:r>
              <a:rPr lang="en-US" b="1" dirty="0"/>
              <a:t>Dynamic Odd Number</a:t>
            </a:r>
          </a:p>
          <a:p>
            <a:pPr lvl="1" algn="just"/>
            <a:r>
              <a:rPr lang="en-US" dirty="0"/>
              <a:t>Exercise 5: </a:t>
            </a:r>
            <a:r>
              <a:rPr lang="en-US" b="1" dirty="0"/>
              <a:t>Dynamic 2D Array Allocation</a:t>
            </a:r>
          </a:p>
          <a:p>
            <a:pPr lvl="1" algn="just"/>
            <a:r>
              <a:rPr lang="en-US" dirty="0"/>
              <a:t>Exercise 6:</a:t>
            </a:r>
            <a:r>
              <a:rPr lang="en-US" b="1" dirty="0"/>
              <a:t> Memory Leak in dynamic allocation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b="1" dirty="0"/>
              <a:t>All the C++ program must be delivered on </a:t>
            </a:r>
            <a:r>
              <a:rPr lang="en-US" b="1" dirty="0" err="1"/>
              <a:t>Aulaweb</a:t>
            </a:r>
            <a:r>
              <a:rPr lang="en-US" b="1" dirty="0"/>
              <a:t>!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lvl="1" algn="just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A92065-D211-B6A8-D906-2C4DAB29B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577" y="4431237"/>
            <a:ext cx="3983476" cy="2355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3E49D-D921-4905-8458-0F7A0CDD6E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210" t="17732" b="37911"/>
          <a:stretch/>
        </p:blipFill>
        <p:spPr>
          <a:xfrm>
            <a:off x="9080488" y="2424659"/>
            <a:ext cx="2680525" cy="200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0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12A07-70E5-6538-3A7F-F35E9B8AC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2FF047-7BD7-394E-BA73-7854FA86C1D1}"/>
              </a:ext>
            </a:extLst>
          </p:cNvPr>
          <p:cNvSpPr txBox="1"/>
          <p:nvPr/>
        </p:nvSpPr>
        <p:spPr>
          <a:xfrm>
            <a:off x="665188" y="1633570"/>
            <a:ext cx="1095696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2800" b="1" dirty="0">
                <a:solidFill>
                  <a:schemeClr val="accent1"/>
                </a:solidFill>
              </a:rPr>
              <a:t>Dynamic memory</a:t>
            </a:r>
            <a:r>
              <a:rPr lang="en-US" altLang="en-US" sz="2800" dirty="0"/>
              <a:t> allocation is the process of allocating memory at the runtime of a program. </a:t>
            </a:r>
          </a:p>
          <a:p>
            <a:pPr>
              <a:lnSpc>
                <a:spcPct val="110000"/>
              </a:lnSpc>
            </a:pPr>
            <a:r>
              <a:rPr lang="en-US" altLang="en-US" sz="2800" dirty="0"/>
              <a:t>In </a:t>
            </a:r>
            <a:r>
              <a:rPr lang="en-US" altLang="en-US" sz="2800" b="1" dirty="0">
                <a:solidFill>
                  <a:schemeClr val="accent1"/>
                </a:solidFill>
              </a:rPr>
              <a:t>dynamic memory allocation</a:t>
            </a:r>
            <a:r>
              <a:rPr lang="en-US" altLang="en-US" sz="2800" dirty="0"/>
              <a:t>, we </a:t>
            </a:r>
            <a:r>
              <a:rPr lang="en-US" altLang="en-US" sz="2800" b="1" dirty="0">
                <a:solidFill>
                  <a:srgbClr val="C00000"/>
                </a:solidFill>
              </a:rPr>
              <a:t>allocate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/>
              <a:t>and then </a:t>
            </a:r>
            <a:r>
              <a:rPr lang="en-US" altLang="en-US" sz="2800" b="1" dirty="0">
                <a:solidFill>
                  <a:srgbClr val="C00000"/>
                </a:solidFill>
              </a:rPr>
              <a:t>deallocate </a:t>
            </a:r>
            <a:r>
              <a:rPr lang="en-US" altLang="en-US" sz="2800" dirty="0"/>
              <a:t>memory dynamically using the </a:t>
            </a:r>
            <a:r>
              <a:rPr lang="en-US" altLang="en-US" sz="2800" b="1" dirty="0">
                <a:solidFill>
                  <a:srgbClr val="C00000"/>
                </a:solidFill>
              </a:rPr>
              <a:t>new and delete operators</a:t>
            </a:r>
            <a:r>
              <a:rPr lang="en-US" altLang="en-US" sz="2800" dirty="0">
                <a:solidFill>
                  <a:srgbClr val="C00000"/>
                </a:solidFill>
              </a:rPr>
              <a:t> </a:t>
            </a:r>
            <a:r>
              <a:rPr lang="en-US" altLang="en-US" sz="2800" dirty="0"/>
              <a:t>respectively.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E599D-73BF-F445-A034-FE7CA76FEB8A}"/>
              </a:ext>
            </a:extLst>
          </p:cNvPr>
          <p:cNvSpPr txBox="1"/>
          <p:nvPr/>
        </p:nvSpPr>
        <p:spPr>
          <a:xfrm>
            <a:off x="2454877" y="4025718"/>
            <a:ext cx="76538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Inconsolata" panose="020F0502020204030204" pitchFamily="2" charset="0"/>
              </a:rPr>
              <a:t>p = </a:t>
            </a:r>
            <a:r>
              <a:rPr lang="en-US" sz="2800" b="1" i="0" dirty="0">
                <a:solidFill>
                  <a:srgbClr val="C00000"/>
                </a:solidFill>
                <a:effectLst/>
                <a:latin typeface="Inconsolata" panose="020F0502020204030204" pitchFamily="2" charset="0"/>
              </a:rPr>
              <a:t>new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consolata" panose="020F0502020204030204" pitchFamily="2" charset="0"/>
              </a:rPr>
              <a:t> type;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Inconsolata" panose="020F0502020204030204" pitchFamily="2" charset="0"/>
              </a:rPr>
              <a:t>p = </a:t>
            </a:r>
            <a:r>
              <a:rPr lang="en-US" sz="2800" b="1" i="0" dirty="0">
                <a:solidFill>
                  <a:srgbClr val="C00000"/>
                </a:solidFill>
                <a:effectLst/>
                <a:latin typeface="Inconsolata" panose="020F0502020204030204" pitchFamily="2" charset="0"/>
              </a:rPr>
              <a:t>new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consolata" panose="020F0502020204030204" pitchFamily="2" charset="0"/>
              </a:rPr>
              <a:t> type [number_of_elements];</a:t>
            </a:r>
            <a:endParaRPr lang="en-US" sz="280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B024CE4-B256-3D66-A5C2-13039617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188" y="365125"/>
            <a:ext cx="10515600" cy="1325563"/>
          </a:xfrm>
        </p:spPr>
        <p:txBody>
          <a:bodyPr/>
          <a:lstStyle/>
          <a:p>
            <a:r>
              <a:rPr lang="it-IT" b="1" dirty="0"/>
              <a:t>Dynamic </a:t>
            </a:r>
            <a:r>
              <a:rPr lang="it-IT" b="1" dirty="0" err="1"/>
              <a:t>Allocation</a:t>
            </a:r>
            <a:endParaRPr lang="it-IT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F56DA-8FBC-F483-CEC5-A3CF06DBE513}"/>
              </a:ext>
            </a:extLst>
          </p:cNvPr>
          <p:cNvSpPr txBox="1"/>
          <p:nvPr/>
        </p:nvSpPr>
        <p:spPr>
          <a:xfrm>
            <a:off x="2454877" y="5407462"/>
            <a:ext cx="7653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C00000"/>
                </a:solidFill>
                <a:effectLst/>
                <a:latin typeface="Inconsolata" panose="020F0502020204030204" pitchFamily="2" charset="0"/>
              </a:rPr>
              <a:t>Delete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consolata" panose="020F0502020204030204" pitchFamily="2" charset="0"/>
              </a:rPr>
              <a:t> [] p;</a:t>
            </a:r>
            <a:endParaRPr lang="en-US" sz="2800" dirty="0"/>
          </a:p>
        </p:txBody>
      </p:sp>
      <p:pic>
        <p:nvPicPr>
          <p:cNvPr id="8" name="Immagine 4">
            <a:extLst>
              <a:ext uri="{FF2B5EF4-FFF2-40B4-BE49-F238E27FC236}">
                <a16:creationId xmlns:a16="http://schemas.microsoft.com/office/drawing/2014/main" id="{FF37483E-5B2A-DB0C-DD5C-E127CF805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291" y="4629686"/>
            <a:ext cx="3248709" cy="186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84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CAE0A7-0B89-8120-9325-6028752B494E}"/>
              </a:ext>
            </a:extLst>
          </p:cNvPr>
          <p:cNvSpPr txBox="1"/>
          <p:nvPr/>
        </p:nvSpPr>
        <p:spPr>
          <a:xfrm>
            <a:off x="739636" y="1496319"/>
            <a:ext cx="10569939" cy="528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2800" dirty="0"/>
              <a:t>This allocation performed in the </a:t>
            </a:r>
            <a:r>
              <a:rPr lang="en-US" sz="2800" b="1" dirty="0">
                <a:solidFill>
                  <a:schemeClr val="accent1"/>
                </a:solidFill>
              </a:rPr>
              <a:t>Heap memory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of the program instead of the </a:t>
            </a:r>
            <a:r>
              <a:rPr lang="en-US" sz="2800" b="1" dirty="0">
                <a:solidFill>
                  <a:schemeClr val="accent1"/>
                </a:solidFill>
              </a:rPr>
              <a:t>stack memory</a:t>
            </a:r>
            <a:r>
              <a:rPr lang="en-US" sz="2800" b="1" dirty="0"/>
              <a:t>.</a:t>
            </a:r>
            <a:r>
              <a:rPr lang="en-US" sz="2800" dirty="0"/>
              <a:t> </a:t>
            </a:r>
          </a:p>
          <a:p>
            <a:pPr algn="just">
              <a:lnSpc>
                <a:spcPct val="110000"/>
              </a:lnSpc>
            </a:pPr>
            <a:endParaRPr lang="en-US" sz="2800" dirty="0"/>
          </a:p>
          <a:p>
            <a:pPr algn="just">
              <a:lnSpc>
                <a:spcPct val="11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Why?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When you are not sure about the size of the array you need.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Implementing data structures such as linked list, trees, etc.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In complex programs that require efficient memory management.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Example</a:t>
            </a:r>
            <a:r>
              <a:rPr lang="en-US" sz="2800" dirty="0"/>
              <a:t>.</a:t>
            </a:r>
          </a:p>
          <a:p>
            <a:pPr algn="just">
              <a:lnSpc>
                <a:spcPct val="110000"/>
              </a:lnSpc>
            </a:pPr>
            <a:endParaRPr lang="en-US" sz="2800" dirty="0"/>
          </a:p>
          <a:p>
            <a:pPr algn="just">
              <a:lnSpc>
                <a:spcPct val="110000"/>
              </a:lnSpc>
            </a:pPr>
            <a:endParaRPr lang="en-US" altLang="en-US" sz="2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491245-C11B-A77E-D399-9F25AE3E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448" y="5060289"/>
            <a:ext cx="6795869" cy="973844"/>
          </a:xfrm>
          <a:prstGeom prst="rect">
            <a:avLst/>
          </a:prstGeom>
        </p:spPr>
      </p:pic>
      <p:sp>
        <p:nvSpPr>
          <p:cNvPr id="27" name="Titolo 1">
            <a:extLst>
              <a:ext uri="{FF2B5EF4-FFF2-40B4-BE49-F238E27FC236}">
                <a16:creationId xmlns:a16="http://schemas.microsoft.com/office/drawing/2014/main" id="{4BD67ABE-AB0F-9A4B-F3A7-06AE041A5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188" y="365125"/>
            <a:ext cx="10515600" cy="1325563"/>
          </a:xfrm>
        </p:spPr>
        <p:txBody>
          <a:bodyPr/>
          <a:lstStyle/>
          <a:p>
            <a:r>
              <a:rPr lang="it-IT" b="1" dirty="0"/>
              <a:t>Heap Memory</a:t>
            </a:r>
          </a:p>
        </p:txBody>
      </p:sp>
    </p:spTree>
    <p:extLst>
      <p:ext uri="{BB962C8B-B14F-4D97-AF65-F5344CB8AC3E}">
        <p14:creationId xmlns:p14="http://schemas.microsoft.com/office/powerpoint/2010/main" val="152219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1AC96-A877-063C-E469-1A68EFCD9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E396A9-55CE-8E5F-CB22-549F51217B69}"/>
              </a:ext>
            </a:extLst>
          </p:cNvPr>
          <p:cNvSpPr txBox="1"/>
          <p:nvPr/>
        </p:nvSpPr>
        <p:spPr>
          <a:xfrm>
            <a:off x="1720297" y="1880632"/>
            <a:ext cx="10569939" cy="54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2800" dirty="0" err="1"/>
              <a:t>dataType</a:t>
            </a:r>
            <a:r>
              <a:rPr lang="en-US" sz="2800" dirty="0"/>
              <a:t>* </a:t>
            </a:r>
            <a:r>
              <a:rPr lang="en-US" sz="2800" dirty="0" err="1"/>
              <a:t>arrayName</a:t>
            </a:r>
            <a:r>
              <a:rPr lang="en-US" sz="2800" dirty="0"/>
              <a:t> = new </a:t>
            </a:r>
            <a:r>
              <a:rPr lang="en-US" sz="2800" dirty="0" err="1"/>
              <a:t>dataType</a:t>
            </a:r>
            <a:r>
              <a:rPr lang="en-US" sz="2800" dirty="0"/>
              <a:t>[size];</a:t>
            </a:r>
            <a:endParaRPr lang="en-US" altLang="en-US" sz="2800" dirty="0"/>
          </a:p>
        </p:txBody>
      </p:sp>
      <p:sp>
        <p:nvSpPr>
          <p:cNvPr id="27" name="Titolo 1">
            <a:extLst>
              <a:ext uri="{FF2B5EF4-FFF2-40B4-BE49-F238E27FC236}">
                <a16:creationId xmlns:a16="http://schemas.microsoft.com/office/drawing/2014/main" id="{63BC1B47-1DCE-5A0A-BD7F-BC760BE04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188" y="365125"/>
            <a:ext cx="10515600" cy="1325563"/>
          </a:xfrm>
        </p:spPr>
        <p:txBody>
          <a:bodyPr/>
          <a:lstStyle/>
          <a:p>
            <a:r>
              <a:rPr lang="it-IT" b="1" dirty="0" err="1"/>
              <a:t>Declaration</a:t>
            </a:r>
            <a:r>
              <a:rPr lang="it-IT" b="1" dirty="0"/>
              <a:t> of </a:t>
            </a:r>
            <a:r>
              <a:rPr lang="it-IT" b="1" dirty="0" err="1"/>
              <a:t>dynamic</a:t>
            </a:r>
            <a:r>
              <a:rPr lang="it-IT" b="1" dirty="0"/>
              <a:t> array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BDC98-3694-A3EF-12F4-66DF5CBEAD62}"/>
              </a:ext>
            </a:extLst>
          </p:cNvPr>
          <p:cNvSpPr txBox="1"/>
          <p:nvPr/>
        </p:nvSpPr>
        <p:spPr>
          <a:xfrm>
            <a:off x="1720297" y="3057829"/>
            <a:ext cx="98090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int size = 5;</a:t>
            </a:r>
          </a:p>
          <a:p>
            <a:r>
              <a:rPr lang="en-US" sz="2800" dirty="0"/>
              <a:t>int* </a:t>
            </a:r>
            <a:r>
              <a:rPr lang="en-US" sz="2800" dirty="0" err="1"/>
              <a:t>dynamicArray</a:t>
            </a:r>
            <a:r>
              <a:rPr lang="en-US" sz="2800" dirty="0"/>
              <a:t> = new </a:t>
            </a:r>
            <a:r>
              <a:rPr lang="en-US" sz="2800" b="1" dirty="0">
                <a:solidFill>
                  <a:srgbClr val="C00000"/>
                </a:solidFill>
              </a:rPr>
              <a:t>int[size]</a:t>
            </a:r>
            <a:r>
              <a:rPr lang="en-US" sz="2800" dirty="0"/>
              <a:t>; // Allocates array of 5 integers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A85D7-17FE-96CD-8087-AAA458302DA1}"/>
              </a:ext>
            </a:extLst>
          </p:cNvPr>
          <p:cNvSpPr txBox="1"/>
          <p:nvPr/>
        </p:nvSpPr>
        <p:spPr>
          <a:xfrm>
            <a:off x="53009" y="5453050"/>
            <a:ext cx="12138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Remember that dynamic array could be of any size defined by the user, for instance in above example, size=5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7810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486A-4CE4-5E5B-6F8D-B8305DBA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38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1: </a:t>
            </a:r>
            <a:r>
              <a:rPr lang="en-US" b="1" dirty="0"/>
              <a:t>Resizing a Dynamic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ABF5E-BBE6-34D5-5431-51470CF63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73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C++ program in which the user dynamically allocates an array of </a:t>
            </a:r>
            <a:r>
              <a:rPr lang="en-US" b="1" dirty="0">
                <a:solidFill>
                  <a:srgbClr val="C00000"/>
                </a:solidFill>
              </a:rPr>
              <a:t>‘n’ integers. </a:t>
            </a:r>
            <a:r>
              <a:rPr lang="en-US" dirty="0"/>
              <a:t>When the array becomes full, create a new array with </a:t>
            </a:r>
            <a:r>
              <a:rPr lang="en-US" b="1" dirty="0">
                <a:solidFill>
                  <a:srgbClr val="C00000"/>
                </a:solidFill>
              </a:rPr>
              <a:t>2 ×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current capacity, </a:t>
            </a:r>
            <a:r>
              <a:rPr lang="en-US" dirty="0"/>
              <a:t>copy all existing elements into it, delete the old memory, and continue using the new array.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Example: </a:t>
            </a:r>
            <a:r>
              <a:rPr lang="en-US" dirty="0"/>
              <a:t>If capacity = 4 and array is full, create a new array of capacity = 8.</a:t>
            </a:r>
          </a:p>
          <a:p>
            <a:r>
              <a:rPr lang="en-US" b="1" dirty="0">
                <a:solidFill>
                  <a:srgbClr val="C00000"/>
                </a:solidFill>
              </a:rPr>
              <a:t>Hint: </a:t>
            </a:r>
            <a:r>
              <a:rPr lang="en-US" dirty="0"/>
              <a:t>Use dynamic memory allocation </a:t>
            </a:r>
          </a:p>
          <a:p>
            <a:r>
              <a:rPr lang="en-US" dirty="0"/>
              <a:t>(new / delete[]) and copy elements before freeing the old array.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85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ED19-8940-B916-4510-069DAD2A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77AD-9ED3-5D06-8A02-376895F3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38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2: </a:t>
            </a:r>
            <a:r>
              <a:rPr lang="en-US" b="1" dirty="0"/>
              <a:t>Dynamic Array Reversal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E08FF-1AB3-C40F-B388-970835939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7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Write a C++ program that dynamically allocates an integer array of size </a:t>
            </a:r>
            <a:r>
              <a:rPr lang="en-US" b="1" dirty="0">
                <a:solidFill>
                  <a:srgbClr val="C00000"/>
                </a:solidFill>
              </a:rPr>
              <a:t>‘n’</a:t>
            </a:r>
            <a:r>
              <a:rPr lang="en-US" dirty="0"/>
              <a:t>, initializes it with values 1 to n, then reverses the array (</a:t>
            </a:r>
            <a:r>
              <a:rPr lang="en-US" b="1" dirty="0"/>
              <a:t>without using extra memory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For Example:</a:t>
            </a:r>
          </a:p>
          <a:p>
            <a:pPr marL="0" indent="0" algn="just">
              <a:buNone/>
            </a:pPr>
            <a:r>
              <a:rPr lang="en-US" dirty="0"/>
              <a:t>Enter array size: 5 </a:t>
            </a:r>
          </a:p>
          <a:p>
            <a:pPr marL="0" indent="0" algn="just">
              <a:buNone/>
            </a:pPr>
            <a:r>
              <a:rPr lang="en-US" dirty="0"/>
              <a:t>Original array: 1 3 5 7 9</a:t>
            </a:r>
          </a:p>
          <a:p>
            <a:pPr marL="0" indent="0" algn="just">
              <a:buNone/>
            </a:pPr>
            <a:r>
              <a:rPr lang="en-US" dirty="0"/>
              <a:t>Reversed array: 9 7 5 3 1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8D0B9A-6E25-56E2-8D86-B371D2A5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708" y="4127210"/>
            <a:ext cx="2846314" cy="18075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A97319-FBE3-62C6-8029-887C2F3C707C}"/>
              </a:ext>
            </a:extLst>
          </p:cNvPr>
          <p:cNvSpPr txBox="1"/>
          <p:nvPr/>
        </p:nvSpPr>
        <p:spPr>
          <a:xfrm>
            <a:off x="1727200" y="6295822"/>
            <a:ext cx="71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Don’t forget to deallocate the dynamic memory to avoid memory leaks</a:t>
            </a:r>
          </a:p>
        </p:txBody>
      </p:sp>
    </p:spTree>
    <p:extLst>
      <p:ext uri="{BB962C8B-B14F-4D97-AF65-F5344CB8AC3E}">
        <p14:creationId xmlns:p14="http://schemas.microsoft.com/office/powerpoint/2010/main" val="2308928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7BDC-CB33-DBF9-7388-3E75DC81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BFB8-0EB5-439A-58B4-96A46CEB5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38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3: </a:t>
            </a:r>
            <a:r>
              <a:rPr lang="en-US" b="1" dirty="0"/>
              <a:t>Dynamic Odd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F840F-2287-5954-4D47-AAA0E36D4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7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Write a C++ program in which user dynamically allocate an array of </a:t>
            </a:r>
            <a:r>
              <a:rPr lang="en-US" b="1" dirty="0">
                <a:solidFill>
                  <a:srgbClr val="C00000"/>
                </a:solidFill>
              </a:rPr>
              <a:t>‘n’</a:t>
            </a:r>
            <a:r>
              <a:rPr lang="en-US" dirty="0"/>
              <a:t> integers. Input </a:t>
            </a:r>
            <a:r>
              <a:rPr lang="en-US" b="1" dirty="0">
                <a:solidFill>
                  <a:srgbClr val="C00000"/>
                </a:solidFill>
              </a:rPr>
              <a:t>‘n’ </a:t>
            </a:r>
            <a:r>
              <a:rPr lang="en-US" dirty="0"/>
              <a:t>values and create another array with only odd numbers.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Example: </a:t>
            </a:r>
            <a:r>
              <a:rPr lang="en-US" dirty="0"/>
              <a:t>Input: [2, 3, 5, 8, 11] → Output: [3, 5, 11]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Hint:</a:t>
            </a:r>
            <a:r>
              <a:rPr lang="en-US" dirty="0"/>
              <a:t> Use two passes — first to count, second to copy.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E5C60B-89CE-5E58-2EED-7E538669B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686" y="4857566"/>
            <a:ext cx="2846314" cy="18075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480A02-9CAA-2DE4-715B-32FB594044BF}"/>
              </a:ext>
            </a:extLst>
          </p:cNvPr>
          <p:cNvSpPr txBox="1"/>
          <p:nvPr/>
        </p:nvSpPr>
        <p:spPr>
          <a:xfrm>
            <a:off x="1727200" y="6295822"/>
            <a:ext cx="71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Don’t forget to deallocate the dynamic memory to avoid memory leaks</a:t>
            </a:r>
          </a:p>
        </p:txBody>
      </p:sp>
    </p:spTree>
    <p:extLst>
      <p:ext uri="{BB962C8B-B14F-4D97-AF65-F5344CB8AC3E}">
        <p14:creationId xmlns:p14="http://schemas.microsoft.com/office/powerpoint/2010/main" val="3795987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AD207-C202-A8F3-C471-C1599C50B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0DC1-2ACA-AFB5-7AAF-949D774B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38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4: </a:t>
            </a:r>
            <a:r>
              <a:rPr lang="en-US" b="1" dirty="0"/>
              <a:t>Greater than average number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24461-3480-C3F2-29CF-53255C8C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7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Write a C++ program in which Allocate </a:t>
            </a:r>
            <a:r>
              <a:rPr lang="en-US" b="1" dirty="0">
                <a:solidFill>
                  <a:srgbClr val="C00000"/>
                </a:solidFill>
              </a:rPr>
              <a:t>float array dynamically, </a:t>
            </a:r>
            <a:r>
              <a:rPr lang="en-US" dirty="0"/>
              <a:t>find average of the numbers present in arrays. </a:t>
            </a:r>
          </a:p>
          <a:p>
            <a:pPr marL="0" indent="0" algn="just">
              <a:buNone/>
            </a:pPr>
            <a:r>
              <a:rPr lang="en-US" dirty="0"/>
              <a:t>Then  print only the values greater than average value.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Example: </a:t>
            </a:r>
          </a:p>
          <a:p>
            <a:pPr marL="0" indent="0" algn="just">
              <a:buNone/>
            </a:pPr>
            <a:r>
              <a:rPr lang="en-US" dirty="0"/>
              <a:t>[2.5, 3.5, 6.0, 4.3, 6.7] → Avg =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4.6</a:t>
            </a:r>
            <a:r>
              <a:rPr lang="en-US" dirty="0"/>
              <a:t> → Output: 6.0, 6.7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81D3E-E555-BAA2-B324-F7A7075D1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643" y="4786095"/>
            <a:ext cx="2846314" cy="1807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02D162-3237-2AC6-A7B4-46756485B293}"/>
              </a:ext>
            </a:extLst>
          </p:cNvPr>
          <p:cNvSpPr txBox="1"/>
          <p:nvPr/>
        </p:nvSpPr>
        <p:spPr>
          <a:xfrm>
            <a:off x="1727200" y="6123543"/>
            <a:ext cx="71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Don’t forget to deallocate the dynamic memory to avoid memory leaks</a:t>
            </a:r>
          </a:p>
        </p:txBody>
      </p:sp>
    </p:spTree>
    <p:extLst>
      <p:ext uri="{BB962C8B-B14F-4D97-AF65-F5344CB8AC3E}">
        <p14:creationId xmlns:p14="http://schemas.microsoft.com/office/powerpoint/2010/main" val="80708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9E383-CCA2-08A1-D598-FDB42178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34F7-CF02-C66D-C79E-C771FE4A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38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5: </a:t>
            </a:r>
            <a:r>
              <a:rPr lang="en-US" b="1" dirty="0"/>
              <a:t>Dynamic 2D Array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C9991-90BE-2321-62FC-8AEEAB824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73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C++ program in which the user dynamically allocates a </a:t>
            </a:r>
            <a:r>
              <a:rPr lang="en-US" b="1" dirty="0">
                <a:solidFill>
                  <a:srgbClr val="C00000"/>
                </a:solidFill>
              </a:rPr>
              <a:t>2D array of floats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with dimensions </a:t>
            </a:r>
            <a:r>
              <a:rPr lang="en-US" b="1" dirty="0">
                <a:solidFill>
                  <a:srgbClr val="C00000"/>
                </a:solidFill>
              </a:rPr>
              <a:t>m × n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/>
              <a:t> Initialize the array with USER INPUT values and print the complete matrix.</a:t>
            </a: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Example:</a:t>
            </a:r>
            <a:br>
              <a:rPr lang="en-US" dirty="0"/>
            </a:br>
            <a:r>
              <a:rPr lang="en-US" dirty="0"/>
              <a:t>Input: m = 3, n = 3</a:t>
            </a:r>
            <a:br>
              <a:rPr lang="en-US" dirty="0"/>
            </a:br>
            <a:r>
              <a:rPr lang="en-US" dirty="0"/>
              <a:t>Output:</a:t>
            </a:r>
            <a:br>
              <a:rPr lang="en-US" dirty="0"/>
            </a:br>
            <a:r>
              <a:rPr lang="en-US" dirty="0"/>
              <a:t>[1.2 3.5 4.1]</a:t>
            </a:r>
            <a:br>
              <a:rPr lang="en-US" dirty="0"/>
            </a:br>
            <a:r>
              <a:rPr lang="en-US" dirty="0"/>
              <a:t>[5.6 7.3 0.9]</a:t>
            </a:r>
            <a:br>
              <a:rPr lang="en-US" dirty="0"/>
            </a:br>
            <a:r>
              <a:rPr lang="en-US" dirty="0"/>
              <a:t>[8.1 2.7 3.3]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DF2CB0-AAA4-C20A-F7D0-A5C13BA60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652" y="3755405"/>
            <a:ext cx="2846314" cy="18075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AFBAD3-0EB5-078B-C738-56E2F6EBBB40}"/>
              </a:ext>
            </a:extLst>
          </p:cNvPr>
          <p:cNvSpPr txBox="1"/>
          <p:nvPr/>
        </p:nvSpPr>
        <p:spPr>
          <a:xfrm>
            <a:off x="1219200" y="6298060"/>
            <a:ext cx="7328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Hint: Use new to allocate rows first, then allocate columns for each row.</a:t>
            </a:r>
          </a:p>
        </p:txBody>
      </p:sp>
    </p:spTree>
    <p:extLst>
      <p:ext uri="{BB962C8B-B14F-4D97-AF65-F5344CB8AC3E}">
        <p14:creationId xmlns:p14="http://schemas.microsoft.com/office/powerpoint/2010/main" val="23588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ACD601-3B71-566A-70D3-07D4A3EC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Memory Leak </a:t>
            </a:r>
            <a:r>
              <a:rPr lang="it-IT" b="1" dirty="0" err="1"/>
              <a:t>example</a:t>
            </a:r>
            <a:endParaRPr lang="it-IT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B778481-3879-64E5-60D7-5B3CF5DB69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841"/>
          <a:stretch/>
        </p:blipFill>
        <p:spPr>
          <a:xfrm>
            <a:off x="2961983" y="1383632"/>
            <a:ext cx="4389312" cy="484853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FB7C293-24C5-2EDF-0198-7C4B6EBC2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295" y="53917"/>
            <a:ext cx="3862137" cy="682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75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059C9B-08A3-095C-8970-96E6273F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Memory Leak </a:t>
            </a:r>
            <a:r>
              <a:rPr lang="it-IT" b="1" dirty="0" err="1"/>
              <a:t>example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0C005F1-634E-8F59-7436-344F8C99A1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5" b="13908"/>
          <a:stretch/>
        </p:blipFill>
        <p:spPr>
          <a:xfrm>
            <a:off x="655568" y="1424077"/>
            <a:ext cx="10872495" cy="468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71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D453-3744-879D-CF6B-699A1E9E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67DD3-9A52-C043-F43C-8C5E197B9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38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6: </a:t>
            </a:r>
            <a:r>
              <a:rPr lang="en-US" b="1" dirty="0"/>
              <a:t>Memory Leak in dynamic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DEF98-1260-24B8-D377-BFE01F745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735"/>
            <a:ext cx="10515600" cy="50596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Write a C++ program that dynamically allocates memory for an integer </a:t>
            </a:r>
            <a:r>
              <a:rPr lang="en-US" b="1" dirty="0">
                <a:solidFill>
                  <a:srgbClr val="C00000"/>
                </a:solidFill>
              </a:rPr>
              <a:t>array (arr1) of size 100   </a:t>
            </a:r>
            <a:r>
              <a:rPr lang="en-US" dirty="0"/>
              <a:t>then reassigns the same pointer to a new </a:t>
            </a:r>
            <a:r>
              <a:rPr lang="en-US" b="1" dirty="0">
                <a:solidFill>
                  <a:srgbClr val="C00000"/>
                </a:solidFill>
              </a:rPr>
              <a:t>array (arr2) of size 50. </a:t>
            </a:r>
          </a:p>
          <a:p>
            <a:pPr marL="0" indent="0" algn="just">
              <a:buNone/>
            </a:pPr>
            <a:r>
              <a:rPr lang="en-US" dirty="0"/>
              <a:t>Next, the program correctly deletes it using </a:t>
            </a:r>
            <a:r>
              <a:rPr lang="en-US" b="1" dirty="0">
                <a:solidFill>
                  <a:srgbClr val="C00000"/>
                </a:solidFill>
              </a:rPr>
              <a:t>delete[], </a:t>
            </a:r>
            <a:r>
              <a:rPr lang="en-US" dirty="0"/>
              <a:t>but the original arr2 array is never deallocated. </a:t>
            </a:r>
          </a:p>
          <a:p>
            <a:pPr algn="just"/>
            <a:r>
              <a:rPr lang="en-US" dirty="0"/>
              <a:t>Your task is to run this program, identify where the </a:t>
            </a:r>
            <a:r>
              <a:rPr lang="en-US" b="1" dirty="0">
                <a:solidFill>
                  <a:srgbClr val="C00000"/>
                </a:solidFill>
              </a:rPr>
              <a:t>memory leak </a:t>
            </a:r>
            <a:r>
              <a:rPr lang="en-US" dirty="0"/>
              <a:t>occurs.</a:t>
            </a:r>
          </a:p>
          <a:p>
            <a:pPr algn="just"/>
            <a:r>
              <a:rPr lang="en-US" dirty="0"/>
              <a:t>Explain why it happens. </a:t>
            </a:r>
          </a:p>
          <a:p>
            <a:pPr algn="just"/>
            <a:r>
              <a:rPr lang="en-US" dirty="0"/>
              <a:t>Modify the program to fix the leak by ensuring that all dynamically allocated memory is properly released before the pointer is reassigned.</a:t>
            </a:r>
          </a:p>
        </p:txBody>
      </p:sp>
    </p:spTree>
    <p:extLst>
      <p:ext uri="{BB962C8B-B14F-4D97-AF65-F5344CB8AC3E}">
        <p14:creationId xmlns:p14="http://schemas.microsoft.com/office/powerpoint/2010/main" val="243491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2390</Words>
  <Application>Microsoft Office PowerPoint</Application>
  <PresentationFormat>Widescreen</PresentationFormat>
  <Paragraphs>341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</vt:lpstr>
      <vt:lpstr>Calibri</vt:lpstr>
      <vt:lpstr>Calibri Light</vt:lpstr>
      <vt:lpstr>Consolas</vt:lpstr>
      <vt:lpstr>Inconsolata</vt:lpstr>
      <vt:lpstr>Office Theme</vt:lpstr>
      <vt:lpstr>Introduction to Computer Science and Programming</vt:lpstr>
      <vt:lpstr>Today…</vt:lpstr>
      <vt:lpstr>Dynamic Allocation</vt:lpstr>
      <vt:lpstr>Heap Memory</vt:lpstr>
      <vt:lpstr>Declaration of dynamic array </vt:lpstr>
      <vt:lpstr>Exercise 1: Resizing a Dynamic Array</vt:lpstr>
      <vt:lpstr>Exercise 2: Dynamic Array Reversal</vt:lpstr>
      <vt:lpstr>Exercise 3: Dynamic Odd Number</vt:lpstr>
      <vt:lpstr>Exercise 4: Greater than average number </vt:lpstr>
      <vt:lpstr>Exercise 5: Dynamic 2D Array Allocation</vt:lpstr>
      <vt:lpstr>Memory Leak example</vt:lpstr>
      <vt:lpstr>Memory Leak example</vt:lpstr>
      <vt:lpstr>Exercise 6: Memory Leak in dynamic allocation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Muhammad Mohsin</cp:lastModifiedBy>
  <cp:revision>489</cp:revision>
  <dcterms:created xsi:type="dcterms:W3CDTF">2018-08-24T21:11:55Z</dcterms:created>
  <dcterms:modified xsi:type="dcterms:W3CDTF">2026-04-08T22:53:06Z</dcterms:modified>
</cp:coreProperties>
</file>