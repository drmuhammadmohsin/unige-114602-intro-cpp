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337" r:id="rId3"/>
    <p:sldId id="364" r:id="rId4"/>
    <p:sldId id="365" r:id="rId5"/>
    <p:sldId id="366" r:id="rId6"/>
    <p:sldId id="367" r:id="rId7"/>
    <p:sldId id="368" r:id="rId8"/>
    <p:sldId id="369" r:id="rId9"/>
    <p:sldId id="704" r:id="rId10"/>
    <p:sldId id="705" r:id="rId11"/>
    <p:sldId id="706" r:id="rId12"/>
    <p:sldId id="707" r:id="rId13"/>
    <p:sldId id="708" r:id="rId14"/>
    <p:sldId id="709" r:id="rId15"/>
    <p:sldId id="710" r:id="rId16"/>
    <p:sldId id="362" r:id="rId17"/>
    <p:sldId id="363" r:id="rId18"/>
    <p:sldId id="711" r:id="rId19"/>
    <p:sldId id="361" r:id="rId20"/>
    <p:sldId id="274" r:id="rId21"/>
    <p:sldId id="712" r:id="rId22"/>
    <p:sldId id="713" r:id="rId23"/>
    <p:sldId id="71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7778" autoAdjust="0"/>
  </p:normalViewPr>
  <p:slideViewPr>
    <p:cSldViewPr snapToGrid="0" snapToObjects="1">
      <p:cViewPr varScale="1">
        <p:scale>
          <a:sx n="64" d="100"/>
          <a:sy n="64" d="100"/>
        </p:scale>
        <p:origin x="139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do some simple exercises on using the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588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IntelliSense is a general term for various code editing features including: code completion, parameter info, quick info, and member lists. IntelliSense features are sometimes called by other names such as "code completion", "content assist", and "code hinting.“</a:t>
            </a:r>
          </a:p>
          <a:p>
            <a:endParaRPr lang="en-US" dirty="0"/>
          </a:p>
          <a:p>
            <a:r>
              <a:rPr lang="en-US" dirty="0"/>
              <a:t>Code snippets are templates that make it easier to enter repeating code patterns, such as loops or conditional-statements.</a:t>
            </a:r>
            <a:endParaRPr lang="it-IT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18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56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0BB8-9E7B-1703-B232-E34351BC2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2AC2F-CD9F-DC7A-F5DB-57D2D5C0C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923EF-14FB-AF35-AB15-D88380523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Reading input values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"Enter three integers: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Calculate the middle value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 Print in ascending order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"The numbers in ascending order are: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using namespace std;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int main()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int a, b, c;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// Reading input values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&lt;&lt; "Enter three integers: ";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&gt;&gt; a &gt;&gt; b &gt;&gt; c;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// Calculate min and max using ternary operators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int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(a &lt; b &amp;&amp; a &lt; c) ? a : (b &lt; c) ? b : c;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int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(a &gt; b &amp;&amp; a &gt; c) ? a : (b &gt; c) ? b : c;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// Calculate the middle value using ternary operators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int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= (a !=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&amp;&amp; a !=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? a : 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             (b !=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&amp;&amp; b !=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? b : c;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// Print in ascending order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&lt;&lt; "The numbers in ascending order are: " &lt;&lt;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minVal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&lt;&lt; ", " &lt;&lt;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midVal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&lt;&lt; ", " &lt;&lt;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maxVal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   return 0;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6612C8-9037-5735-C295-D8CD96CB8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28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// Prompt the user to enter three integers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three integers: ";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Declare three int variables a0, a1, and a2</a:t>
            </a:r>
          </a:p>
          <a:p>
            <a:r>
              <a:rPr lang="en-US" dirty="0"/>
              <a:t>    int a0, a1, a2;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Read the values of a0, a1, and a2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a0 &gt;&gt; a1 &gt;&gt; a2;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Sort a0, a1, and a2</a:t>
            </a:r>
          </a:p>
          <a:p>
            <a:r>
              <a:rPr lang="en-US" dirty="0"/>
              <a:t>    // Declare an auxiliary int variable aux initialized with a1</a:t>
            </a:r>
          </a:p>
          <a:p>
            <a:r>
              <a:rPr lang="en-US" dirty="0"/>
              <a:t>    int aux = a1;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If a0 is greater than a1, swap them</a:t>
            </a:r>
          </a:p>
          <a:p>
            <a:r>
              <a:rPr lang="en-US" dirty="0"/>
              <a:t>    if (a0 &gt; a1) {</a:t>
            </a:r>
          </a:p>
          <a:p>
            <a:r>
              <a:rPr lang="en-US" dirty="0"/>
              <a:t>        a1 = a0;</a:t>
            </a:r>
          </a:p>
          <a:p>
            <a:r>
              <a:rPr lang="en-US" dirty="0"/>
              <a:t>        a0 = aux;</a:t>
            </a:r>
          </a:p>
          <a:p>
            <a:r>
              <a:rPr lang="en-US" dirty="0"/>
              <a:t>        aux = a1;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If a0 is greater than a2, perform another swap</a:t>
            </a:r>
          </a:p>
          <a:p>
            <a:r>
              <a:rPr lang="en-US" dirty="0"/>
              <a:t>    if (a0 &gt; a2) {</a:t>
            </a:r>
          </a:p>
          <a:p>
            <a:r>
              <a:rPr lang="en-US" dirty="0"/>
              <a:t>        a1 = a0;</a:t>
            </a:r>
          </a:p>
          <a:p>
            <a:r>
              <a:rPr lang="en-US" dirty="0"/>
              <a:t>        a0 = a2;</a:t>
            </a:r>
          </a:p>
          <a:p>
            <a:r>
              <a:rPr lang="en-US" dirty="0"/>
              <a:t>        a2 = aux;</a:t>
            </a:r>
          </a:p>
          <a:p>
            <a:r>
              <a:rPr lang="en-US" dirty="0"/>
              <a:t>    } </a:t>
            </a:r>
          </a:p>
          <a:p>
            <a:r>
              <a:rPr lang="en-US" dirty="0"/>
              <a:t>    // Otherwise, check if a1 is greater than a2 and swap them</a:t>
            </a:r>
          </a:p>
          <a:p>
            <a:r>
              <a:rPr lang="en-US" dirty="0"/>
              <a:t>    else if (a1 &gt; a2) {</a:t>
            </a:r>
          </a:p>
          <a:p>
            <a:r>
              <a:rPr lang="en-US" dirty="0"/>
              <a:t>        a1 = a2;</a:t>
            </a:r>
          </a:p>
          <a:p>
            <a:r>
              <a:rPr lang="en-US" dirty="0"/>
              <a:t>        a2 = aux;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// Print the sorted numbers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"The numbers in ascending order are: ";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a0 &lt;&lt; " &lt; " &lt;&lt; a1 &lt;&lt; " &lt; " &lt;&lt; a2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78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#include &lt;</a:t>
            </a:r>
            <a:r>
              <a:rPr lang="en-US" dirty="0" err="1"/>
              <a:t>ctime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// Get current time in seconds since Jan 1, 1970 (Unix epoch)</a:t>
            </a:r>
          </a:p>
          <a:p>
            <a:r>
              <a:rPr lang="en-US" dirty="0"/>
              <a:t>    </a:t>
            </a:r>
            <a:r>
              <a:rPr lang="en-US" dirty="0" err="1"/>
              <a:t>time_t</a:t>
            </a:r>
            <a:r>
              <a:rPr lang="en-US" dirty="0"/>
              <a:t> now = time(0);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now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r>
              <a:rPr lang="en-US" dirty="0"/>
              <a:t>    // Convert seconds since epoch to hours, minutes, seconds</a:t>
            </a:r>
          </a:p>
          <a:p>
            <a:r>
              <a:rPr lang="en-US" dirty="0"/>
              <a:t>    // (GMT/UTC time, since we are not using </a:t>
            </a:r>
            <a:r>
              <a:rPr lang="en-US" dirty="0" err="1"/>
              <a:t>localtime</a:t>
            </a:r>
            <a:r>
              <a:rPr lang="en-US" dirty="0"/>
              <a:t>)</a:t>
            </a:r>
          </a:p>
          <a:p>
            <a:r>
              <a:rPr lang="en-US" dirty="0"/>
              <a:t>    long seconds = now % 86400;   // seconds in a day</a:t>
            </a:r>
          </a:p>
          <a:p>
            <a:r>
              <a:rPr lang="en-US" dirty="0"/>
              <a:t>    int hour = seconds / 3600;</a:t>
            </a:r>
          </a:p>
          <a:p>
            <a:r>
              <a:rPr lang="en-US" dirty="0"/>
              <a:t>    int minute = (seconds % 3600) / 60;</a:t>
            </a:r>
          </a:p>
          <a:p>
            <a:r>
              <a:rPr lang="en-US" dirty="0"/>
              <a:t>    int second = seconds % 60;</a:t>
            </a:r>
          </a:p>
          <a:p>
            <a:endParaRPr lang="en-US" dirty="0"/>
          </a:p>
          <a:p>
            <a:r>
              <a:rPr lang="en-US" dirty="0"/>
              <a:t>    // Print with manual formatting (no </a:t>
            </a:r>
            <a:r>
              <a:rPr lang="en-US" dirty="0" err="1"/>
              <a:t>setfill</a:t>
            </a:r>
            <a:r>
              <a:rPr lang="en-US" dirty="0"/>
              <a:t>)</a:t>
            </a:r>
          </a:p>
          <a:p>
            <a:r>
              <a:rPr lang="en-US" dirty="0"/>
              <a:t>    if (hour &lt; 10) std::</a:t>
            </a:r>
            <a:r>
              <a:rPr lang="en-US" dirty="0" err="1"/>
              <a:t>cout</a:t>
            </a:r>
            <a:r>
              <a:rPr lang="en-US" dirty="0"/>
              <a:t> &lt;&lt; "0";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hour &lt;&lt; ":";</a:t>
            </a:r>
          </a:p>
          <a:p>
            <a:endParaRPr lang="en-US" dirty="0"/>
          </a:p>
          <a:p>
            <a:r>
              <a:rPr lang="en-US" dirty="0"/>
              <a:t>    if (minute &lt; 10) std::</a:t>
            </a:r>
            <a:r>
              <a:rPr lang="en-US" dirty="0" err="1"/>
              <a:t>cout</a:t>
            </a:r>
            <a:r>
              <a:rPr lang="en-US" dirty="0"/>
              <a:t> &lt;&lt; "0";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minute &lt;&lt; ":";</a:t>
            </a:r>
          </a:p>
          <a:p>
            <a:endParaRPr lang="en-US" dirty="0"/>
          </a:p>
          <a:p>
            <a:r>
              <a:rPr lang="en-US" dirty="0"/>
              <a:t>    if (second &lt; 10) std::</a:t>
            </a:r>
            <a:r>
              <a:rPr lang="en-US" dirty="0" err="1"/>
              <a:t>cout</a:t>
            </a:r>
            <a:r>
              <a:rPr lang="en-US" dirty="0"/>
              <a:t> &lt;&lt; "0";</a:t>
            </a:r>
          </a:p>
          <a:p>
            <a:r>
              <a:rPr lang="en-US" dirty="0"/>
              <a:t>    std::</a:t>
            </a:r>
            <a:r>
              <a:rPr lang="en-US" dirty="0" err="1"/>
              <a:t>cout</a:t>
            </a:r>
            <a:r>
              <a:rPr lang="en-US" dirty="0"/>
              <a:t> &lt;&lt; second &lt;&lt; std::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19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BA8E-059C-2CEB-505A-B02FA6EA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F56E-8CED-59ED-025D-D0C3A6293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FF350-FCA1-8090-F9B5-B23A15EF8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double km;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the number of kilometers: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km;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double fare = 5; // Base fare</a:t>
            </a: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(km &lt;= 10)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fare += km * 2; // 2 € per km for the first 10 km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fare += 10 * 2; // Cost for first 10 km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fare += (km - 10) * 1.5; // Cost for additional km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"Total fare: " &lt;&lt; fare &lt;&lt; " €"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EC86C-126C-D02E-4233-9AA55CAF3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01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958D3-8A37-F591-21B9-AE5ACBDB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A53BF-9BF6-A489-D65C-0B6E63EBD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6F94F-9FA2-88A1-0F92-648569DB1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&lt;iostream&gt;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namespace std;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main()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double score1, score2, score3;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Read three test scores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"Enter three test scores: 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&gt;&gt; score1 &gt;&gt; score2 &gt;&gt; score3;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Calculate average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double average = (score1 + score2 + score3) / 3.0;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Determine letter grade and message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char grade;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string message;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if (average &gt;= 90 &amp;&amp; average &lt;= 100)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grade = 'A';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message = "Excellent!";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if (average &gt;= 80 &amp;&amp; average &lt; 90)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grade = 'B';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message = "Good job!";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if (average &gt;= 70 &amp;&amp; average &lt; 80)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grade = 'C';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message = "Well done!";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if (average &gt;= 60 &amp;&amp; average &lt; 70)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grade = 'D';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message = "You passed.";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 else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grade = 'F';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message = "Better luck next time.";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// Display results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"Average score: " &lt;&lt; average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"Letter grade: " &lt;&lt; grade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&lt;&lt; message &lt;&lt;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endl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0;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6A8B4-186D-DC87-E9A8-121A746C5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77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2DF5-9B07-C665-70A5-3E4A5B4D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F58C4-CA00-80D0-F418-BE432892F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B8379-0AD3-644E-4D9F-C2BA57582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#include &lt;iostream&gt;</a:t>
            </a:r>
          </a:p>
          <a:p>
            <a:r>
              <a:rPr lang="en-US" dirty="0"/>
              <a:t>using namespace std;</a:t>
            </a:r>
          </a:p>
          <a:p>
            <a:endParaRPr lang="en-US" dirty="0"/>
          </a:p>
          <a:p>
            <a:r>
              <a:rPr lang="en-US" dirty="0"/>
              <a:t>int main() {</a:t>
            </a:r>
          </a:p>
          <a:p>
            <a:r>
              <a:rPr lang="en-US" dirty="0"/>
              <a:t>    double </a:t>
            </a:r>
            <a:r>
              <a:rPr lang="en-US" dirty="0" err="1"/>
              <a:t>celsius</a:t>
            </a:r>
            <a:r>
              <a:rPr lang="en-US" dirty="0"/>
              <a:t>, </a:t>
            </a:r>
            <a:r>
              <a:rPr lang="en-US" dirty="0" err="1"/>
              <a:t>fahrenheit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Ask the user for input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temperature in Celsius: ";</a:t>
            </a:r>
          </a:p>
          <a:p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</a:t>
            </a:r>
            <a:r>
              <a:rPr lang="en-US" dirty="0" err="1"/>
              <a:t>celsius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// Convert Celsius to Fahrenheit</a:t>
            </a:r>
          </a:p>
          <a:p>
            <a:r>
              <a:rPr lang="en-US" dirty="0"/>
              <a:t>    </a:t>
            </a:r>
            <a:r>
              <a:rPr lang="en-US" dirty="0" err="1"/>
              <a:t>fahrenheit</a:t>
            </a:r>
            <a:r>
              <a:rPr lang="en-US" dirty="0"/>
              <a:t> = (</a:t>
            </a:r>
            <a:r>
              <a:rPr lang="en-US" dirty="0" err="1"/>
              <a:t>celsius</a:t>
            </a:r>
            <a:r>
              <a:rPr lang="en-US" dirty="0"/>
              <a:t> * 9.0 / 5.0) + 32;</a:t>
            </a:r>
          </a:p>
          <a:p>
            <a:endParaRPr lang="en-US" dirty="0"/>
          </a:p>
          <a:p>
            <a:r>
              <a:rPr lang="en-US" dirty="0"/>
              <a:t>    // Display the result</a:t>
            </a:r>
          </a:p>
          <a:p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</a:t>
            </a:r>
            <a:r>
              <a:rPr lang="en-US" dirty="0" err="1"/>
              <a:t>celsius</a:t>
            </a:r>
            <a:r>
              <a:rPr lang="en-US" dirty="0"/>
              <a:t> &lt;&lt; "C is " &lt;&lt; </a:t>
            </a:r>
            <a:r>
              <a:rPr lang="en-US" dirty="0" err="1"/>
              <a:t>fahrenheit</a:t>
            </a:r>
            <a:r>
              <a:rPr lang="en-US" dirty="0"/>
              <a:t> </a:t>
            </a:r>
            <a:r>
              <a:rPr lang="en-US"/>
              <a:t>&lt;&lt; "F</a:t>
            </a:r>
            <a:r>
              <a:rPr lang="en-US" dirty="0"/>
              <a:t>"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D6990-19FA-BF60-753B-1FD373D58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E42C0-23EF-43A4-A898-463C184529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microsoft/vsco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code.visualstudio.com/docs/setup/setup-overview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D876-732D-0240-A8A5-4C20AE8DB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6013"/>
            <a:ext cx="9144000" cy="177935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Introduction to Computer Science and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C8C55-FA11-A041-9D33-F4E3D0C99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4738"/>
            <a:ext cx="9144000" cy="2392362"/>
          </a:xfrm>
        </p:spPr>
        <p:txBody>
          <a:bodyPr>
            <a:normAutofit fontScale="92500" lnSpcReduction="10000"/>
          </a:bodyPr>
          <a:lstStyle/>
          <a:p>
            <a:r>
              <a:rPr lang="en-US" sz="3200" b="1" dirty="0"/>
              <a:t>Labo 8 – VS CODE and C++ Exercises</a:t>
            </a:r>
          </a:p>
          <a:p>
            <a:r>
              <a:rPr lang="en-US" sz="2800" dirty="0"/>
              <a:t>Laboratory 8, December 2, 2025</a:t>
            </a:r>
          </a:p>
          <a:p>
            <a:endParaRPr lang="en-US" sz="2800" dirty="0"/>
          </a:p>
          <a:p>
            <a:r>
              <a:rPr lang="en-US" sz="2800" b="1" dirty="0"/>
              <a:t>Filippo Ricca</a:t>
            </a:r>
            <a:r>
              <a:rPr lang="it-IT" sz="2000" b="1" dirty="0"/>
              <a:t> – </a:t>
            </a:r>
            <a:r>
              <a:rPr lang="it-IT" sz="2600" b="1" dirty="0"/>
              <a:t>Muhammad Mohsin</a:t>
            </a:r>
            <a:endParaRPr lang="en-US" sz="2600" b="1" dirty="0"/>
          </a:p>
          <a:p>
            <a:r>
              <a:rPr lang="en-US" sz="2800" b="1" dirty="0">
                <a:solidFill>
                  <a:srgbClr val="C00000"/>
                </a:solidFill>
              </a:rPr>
              <a:t>DIBRIS, University of Genova</a:t>
            </a:r>
          </a:p>
        </p:txBody>
      </p:sp>
    </p:spTree>
    <p:extLst>
      <p:ext uri="{BB962C8B-B14F-4D97-AF65-F5344CB8AC3E}">
        <p14:creationId xmlns:p14="http://schemas.microsoft.com/office/powerpoint/2010/main" val="28184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589" y="1596983"/>
            <a:ext cx="1077921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Today's lab is dedicated to </a:t>
            </a:r>
            <a:r>
              <a:rPr lang="en-US" b="1" dirty="0">
                <a:solidFill>
                  <a:srgbClr val="FF0000"/>
                </a:solidFill>
              </a:rPr>
              <a:t>VS CODE and first examples/exercises in C++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Covered topics in the today evaluated lab:</a:t>
            </a:r>
          </a:p>
          <a:p>
            <a:pPr lvl="1" algn="just"/>
            <a:r>
              <a:rPr lang="en-US" dirty="0"/>
              <a:t>Quick intro to VS CODE</a:t>
            </a:r>
          </a:p>
          <a:p>
            <a:pPr lvl="2" algn="just"/>
            <a:r>
              <a:rPr lang="en-US" dirty="0"/>
              <a:t>Professional IDE!</a:t>
            </a:r>
          </a:p>
          <a:p>
            <a:pPr lvl="3" algn="just"/>
            <a:r>
              <a:rPr lang="en-US" dirty="0"/>
              <a:t>We will use a subset of the features</a:t>
            </a:r>
          </a:p>
          <a:p>
            <a:pPr lvl="1" algn="just"/>
            <a:r>
              <a:rPr lang="en-US" dirty="0"/>
              <a:t>Setting up VS CODE</a:t>
            </a:r>
          </a:p>
          <a:p>
            <a:pPr lvl="1" algn="just"/>
            <a:r>
              <a:rPr lang="en-US" dirty="0"/>
              <a:t>C/C++ for VS CODE</a:t>
            </a:r>
          </a:p>
          <a:p>
            <a:pPr lvl="1" algn="just"/>
            <a:r>
              <a:rPr lang="en-US" dirty="0"/>
              <a:t>C++ exercises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>
              <a:solidFill>
                <a:srgbClr val="0070C0"/>
              </a:solidFill>
            </a:endParaRPr>
          </a:p>
          <a:p>
            <a:pPr algn="just"/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lvl="1" algn="just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0C354A-6004-9A1D-01B4-9BA7F83C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014" y="4747118"/>
            <a:ext cx="6434289" cy="102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04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64EC0-CA05-613D-E3E1-8A62FC8E6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VS Code?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EE69E-4811-F364-C4CB-9BA3BA303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Visual Studio Code is a </a:t>
            </a:r>
            <a:r>
              <a:rPr lang="en-US" b="1" dirty="0"/>
              <a:t>cross-platform and multilanguage source code editor</a:t>
            </a:r>
            <a:r>
              <a:rPr lang="en-US" dirty="0"/>
              <a:t> developed by Microsoft</a:t>
            </a:r>
          </a:p>
          <a:p>
            <a:pPr lvl="1" algn="just"/>
            <a:r>
              <a:rPr lang="en-US" b="1" dirty="0"/>
              <a:t>Microsoft, Linux, </a:t>
            </a:r>
            <a:r>
              <a:rPr lang="it-IT" b="1" dirty="0" err="1"/>
              <a:t>macOS</a:t>
            </a:r>
            <a:endParaRPr lang="it-IT" b="1" dirty="0"/>
          </a:p>
          <a:p>
            <a:pPr lvl="1" algn="just"/>
            <a:r>
              <a:rPr lang="it-IT" b="1" dirty="0"/>
              <a:t>C++, Java, Python, </a:t>
            </a:r>
            <a:r>
              <a:rPr lang="it-IT" b="1" dirty="0" err="1"/>
              <a:t>Javascript</a:t>
            </a:r>
            <a:r>
              <a:rPr lang="it-IT" b="1" dirty="0"/>
              <a:t>, …</a:t>
            </a:r>
            <a:endParaRPr lang="en-US" b="1" dirty="0"/>
          </a:p>
          <a:p>
            <a:pPr algn="just"/>
            <a:r>
              <a:rPr lang="en-US" dirty="0"/>
              <a:t>It incorporates the capabilities of Visual Studio while making them </a:t>
            </a:r>
            <a:r>
              <a:rPr lang="en-US" b="1" dirty="0"/>
              <a:t>lightweight</a:t>
            </a:r>
          </a:p>
          <a:p>
            <a:pPr algn="just"/>
            <a:r>
              <a:rPr lang="en-US" dirty="0"/>
              <a:t>Launched in 2015, Visual Studio Code marked Microsoft's move toward the </a:t>
            </a:r>
            <a:r>
              <a:rPr lang="en-US" b="1" dirty="0"/>
              <a:t>open-source</a:t>
            </a:r>
            <a:r>
              <a:rPr lang="en-US" dirty="0"/>
              <a:t> community</a:t>
            </a:r>
          </a:p>
          <a:p>
            <a:pPr algn="just"/>
            <a:r>
              <a:rPr lang="en-US" dirty="0"/>
              <a:t>The source code is available at this link:</a:t>
            </a:r>
            <a:br>
              <a:rPr lang="en-US" dirty="0"/>
            </a:br>
            <a:r>
              <a:rPr lang="en-US" dirty="0">
                <a:hlinkClick r:id="rId2"/>
              </a:rPr>
              <a:t>https://github.com/microsoft/vscode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2ACF6-F8D6-640C-BA7A-8C76E8243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5579" y="117001"/>
            <a:ext cx="2077595" cy="143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313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EAE4-2139-89AC-1028-B8BED80BE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Cross-platform source code editor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7B03-7FA2-6C7E-6DEC-2B3C2D5BE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512"/>
            <a:ext cx="10515600" cy="8289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Visual Studio Code is natively supported on </a:t>
            </a:r>
            <a:r>
              <a:rPr lang="en-US" b="1" dirty="0"/>
              <a:t>Linux</a:t>
            </a:r>
            <a:r>
              <a:rPr lang="en-US" dirty="0"/>
              <a:t>, </a:t>
            </a:r>
            <a:r>
              <a:rPr lang="en-US" b="1" dirty="0"/>
              <a:t>Windows</a:t>
            </a:r>
            <a:r>
              <a:rPr lang="en-US" dirty="0"/>
              <a:t>, and </a:t>
            </a:r>
            <a:r>
              <a:rPr lang="en-US" b="1" dirty="0"/>
              <a:t>macOS</a:t>
            </a:r>
            <a:r>
              <a:rPr lang="en-US" dirty="0"/>
              <a:t> environments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6CF52-9774-E70A-8681-95F364985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157" y="2524954"/>
            <a:ext cx="6127800" cy="351707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EE5960-AB57-BE54-E60A-E11387739CB4}"/>
              </a:ext>
            </a:extLst>
          </p:cNvPr>
          <p:cNvSpPr/>
          <p:nvPr/>
        </p:nvSpPr>
        <p:spPr>
          <a:xfrm>
            <a:off x="3582834" y="6176963"/>
            <a:ext cx="5475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b="1" dirty="0"/>
              <a:t>https://code.visualstudio.com/Download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4C53F-D9E4-CDB0-416F-1936A45D0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843" y="4022660"/>
            <a:ext cx="2495678" cy="38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0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0273-CBCC-6EAD-1F6D-758744BB0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65125"/>
            <a:ext cx="10515600" cy="1325563"/>
          </a:xfrm>
        </p:spPr>
        <p:txBody>
          <a:bodyPr/>
          <a:lstStyle/>
          <a:p>
            <a:r>
              <a:rPr lang="en-US" b="1" dirty="0"/>
              <a:t>What are its most interesting features?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AAE25-AD50-AA12-19EF-F8ED5D49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1802075"/>
            <a:ext cx="62230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Syntax Highlight</a:t>
            </a:r>
            <a:r>
              <a:rPr lang="en-US" dirty="0"/>
              <a:t>: Syntax coloring</a:t>
            </a:r>
          </a:p>
          <a:p>
            <a:pPr algn="just"/>
            <a:r>
              <a:rPr lang="en-US" b="1" dirty="0"/>
              <a:t>IntelliSense</a:t>
            </a:r>
            <a:r>
              <a:rPr lang="en-US" dirty="0"/>
              <a:t>: Autocompletion with documentation</a:t>
            </a:r>
          </a:p>
          <a:p>
            <a:pPr algn="just"/>
            <a:r>
              <a:rPr lang="en-US" b="1" dirty="0"/>
              <a:t>Integrated GIT</a:t>
            </a:r>
            <a:r>
              <a:rPr lang="en-US" dirty="0"/>
              <a:t>: Built-in version control software</a:t>
            </a:r>
          </a:p>
          <a:p>
            <a:pPr algn="just"/>
            <a:r>
              <a:rPr lang="en-US" b="1" dirty="0"/>
              <a:t>Integrated Debugging</a:t>
            </a:r>
            <a:r>
              <a:rPr lang="en-US" dirty="0"/>
              <a:t>: Error detection and correction with breakpoint definition</a:t>
            </a:r>
          </a:p>
          <a:p>
            <a:pPr algn="just"/>
            <a:r>
              <a:rPr lang="en-US" b="1" dirty="0"/>
              <a:t>Extensions (plug-ins): </a:t>
            </a:r>
            <a:r>
              <a:rPr lang="en-US" dirty="0"/>
              <a:t>Ability to easily and quickly add additional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6AFDE-518E-5042-6666-4F919AB89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399" y="1927223"/>
            <a:ext cx="4974549" cy="4101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83AB15-5A72-8A81-A7DB-F0A5D558A40C}"/>
              </a:ext>
            </a:extLst>
          </p:cNvPr>
          <p:cNvSpPr txBox="1"/>
          <p:nvPr/>
        </p:nvSpPr>
        <p:spPr>
          <a:xfrm>
            <a:off x="1895501" y="6165092"/>
            <a:ext cx="92550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We will understand these features better in the upcoming lessons</a:t>
            </a:r>
          </a:p>
        </p:txBody>
      </p:sp>
    </p:spTree>
    <p:extLst>
      <p:ext uri="{BB962C8B-B14F-4D97-AF65-F5344CB8AC3E}">
        <p14:creationId xmlns:p14="http://schemas.microsoft.com/office/powerpoint/2010/main" val="2557766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57020-02CD-9F07-9611-BB273399C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33" y="150589"/>
            <a:ext cx="10515600" cy="1325563"/>
          </a:xfrm>
        </p:spPr>
        <p:txBody>
          <a:bodyPr/>
          <a:lstStyle/>
          <a:p>
            <a:r>
              <a:rPr lang="it-IT" b="1" dirty="0" err="1"/>
              <a:t>IntelliSense</a:t>
            </a:r>
            <a:r>
              <a:rPr lang="it-IT" b="1" dirty="0"/>
              <a:t> (Code </a:t>
            </a:r>
            <a:r>
              <a:rPr lang="it-IT" b="1" dirty="0" err="1"/>
              <a:t>Completion</a:t>
            </a:r>
            <a:r>
              <a:rPr lang="it-IT" b="1" dirty="0"/>
              <a:t>)</a:t>
            </a:r>
            <a:endParaRPr lang="en-US" dirty="0"/>
          </a:p>
        </p:txBody>
      </p:sp>
      <p:pic>
        <p:nvPicPr>
          <p:cNvPr id="4" name="intellicode">
            <a:hlinkClick r:id="" action="ppaction://media"/>
            <a:extLst>
              <a:ext uri="{FF2B5EF4-FFF2-40B4-BE49-F238E27FC236}">
                <a16:creationId xmlns:a16="http://schemas.microsoft.com/office/drawing/2014/main" id="{6962E400-D78C-7D85-998E-266E05D3A071}"/>
              </a:ext>
            </a:extLst>
          </p:cNvPr>
          <p:cNvPicPr>
            <a:picLocks noGrp="1" noChangeAspect="1"/>
          </p:cNvPicPr>
          <p:nvPr>
            <p:ph sz="quarter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36858" y="1393554"/>
            <a:ext cx="6499225" cy="487362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CA3F1-E24F-D616-56B1-41839F54DFCB}"/>
              </a:ext>
            </a:extLst>
          </p:cNvPr>
          <p:cNvSpPr txBox="1"/>
          <p:nvPr/>
        </p:nvSpPr>
        <p:spPr>
          <a:xfrm>
            <a:off x="3679768" y="63345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It helps speed up the coding phase</a:t>
            </a:r>
          </a:p>
        </p:txBody>
      </p:sp>
    </p:spTree>
    <p:extLst>
      <p:ext uri="{BB962C8B-B14F-4D97-AF65-F5344CB8AC3E}">
        <p14:creationId xmlns:p14="http://schemas.microsoft.com/office/powerpoint/2010/main" val="35427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CA02-6734-BD09-BFEA-200CCD2C0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was VS Code chosen?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4627-41CD-7185-3A54-8E27715DF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Cross-Platform Compatibility</a:t>
            </a:r>
            <a:r>
              <a:rPr lang="en-US" dirty="0"/>
              <a:t>: Works seamlessly on </a:t>
            </a:r>
            <a:r>
              <a:rPr lang="en-US" b="1" dirty="0">
                <a:solidFill>
                  <a:srgbClr val="FF0000"/>
                </a:solidFill>
              </a:rPr>
              <a:t>Windows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macOS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Linux</a:t>
            </a:r>
            <a:r>
              <a:rPr lang="en-US" dirty="0"/>
              <a:t>, providing a consistent experience across different systems</a:t>
            </a:r>
          </a:p>
          <a:p>
            <a:pPr algn="just"/>
            <a:r>
              <a:rPr lang="en-US" b="1" dirty="0"/>
              <a:t>IntelliSense and Autocompletion</a:t>
            </a:r>
            <a:r>
              <a:rPr lang="en-US" dirty="0"/>
              <a:t>: Offers </a:t>
            </a:r>
            <a:r>
              <a:rPr lang="en-US" b="1" dirty="0">
                <a:solidFill>
                  <a:srgbClr val="FF0000"/>
                </a:solidFill>
              </a:rPr>
              <a:t>smart code suggestions</a:t>
            </a:r>
            <a:r>
              <a:rPr lang="en-US" dirty="0"/>
              <a:t>, syntax highlighting, and inline documentation, boosting productivity and reducing errors</a:t>
            </a:r>
          </a:p>
          <a:p>
            <a:pPr algn="just"/>
            <a:r>
              <a:rPr lang="en-US" b="1" dirty="0"/>
              <a:t>Integrated Version Control</a:t>
            </a:r>
            <a:r>
              <a:rPr lang="en-US" dirty="0"/>
              <a:t>: Built-in Git support allows for easy version control, commit management, and </a:t>
            </a:r>
            <a:r>
              <a:rPr lang="en-US" b="1" dirty="0">
                <a:solidFill>
                  <a:srgbClr val="FF0000"/>
                </a:solidFill>
              </a:rPr>
              <a:t>collaboration directly within the editor</a:t>
            </a:r>
          </a:p>
          <a:p>
            <a:pPr algn="just"/>
            <a:r>
              <a:rPr lang="en-US" b="1" dirty="0"/>
              <a:t>Extensive Extension Marketplace</a:t>
            </a:r>
            <a:r>
              <a:rPr lang="en-US" dirty="0"/>
              <a:t>: A vast </a:t>
            </a:r>
            <a:r>
              <a:rPr lang="en-US" b="1" dirty="0">
                <a:solidFill>
                  <a:srgbClr val="FF0000"/>
                </a:solidFill>
              </a:rPr>
              <a:t>library of extensions and plug-ins </a:t>
            </a:r>
            <a:r>
              <a:rPr lang="en-US" dirty="0"/>
              <a:t>enables customization and additional functionality for different languages and tools</a:t>
            </a:r>
          </a:p>
          <a:p>
            <a:pPr algn="just"/>
            <a:r>
              <a:rPr lang="en-US" b="1" dirty="0"/>
              <a:t>Lightweight and Fast</a:t>
            </a:r>
            <a:r>
              <a:rPr lang="en-US" dirty="0"/>
              <a:t>: Despite its rich features, VS Code is </a:t>
            </a:r>
            <a:r>
              <a:rPr lang="en-US" b="1" dirty="0">
                <a:solidFill>
                  <a:srgbClr val="FF0000"/>
                </a:solidFill>
              </a:rPr>
              <a:t>lightweight and responsive</a:t>
            </a:r>
            <a:r>
              <a:rPr lang="en-US" dirty="0"/>
              <a:t>, making it ideal for both large and small projects</a:t>
            </a:r>
          </a:p>
          <a:p>
            <a:pPr algn="just"/>
            <a:r>
              <a:rPr lang="en-US" b="1" dirty="0"/>
              <a:t>It is widely used in practice in companies!</a:t>
            </a:r>
          </a:p>
        </p:txBody>
      </p:sp>
    </p:spTree>
    <p:extLst>
      <p:ext uri="{BB962C8B-B14F-4D97-AF65-F5344CB8AC3E}">
        <p14:creationId xmlns:p14="http://schemas.microsoft.com/office/powerpoint/2010/main" val="1950637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7499-FFE4-716C-9B6F-779F0D9A9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Overflow 2023 Developer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D2162-335B-F2F7-44AD-08603A9F8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17" y="1611574"/>
            <a:ext cx="10448707" cy="110603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Visual Studio Code remains the </a:t>
            </a:r>
            <a:r>
              <a:rPr lang="en-US" b="1" dirty="0">
                <a:solidFill>
                  <a:srgbClr val="FF0000"/>
                </a:solidFill>
              </a:rPr>
              <a:t>preferred IDE across all developers</a:t>
            </a:r>
            <a:r>
              <a:rPr lang="en-US" dirty="0"/>
              <a:t>, increasing its use among all developers this year from 75 percent to 81 percent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CC09843-0238-380E-7A81-10FBBAEB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957" y="2568697"/>
            <a:ext cx="5126431" cy="40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043742" y="6341307"/>
            <a:ext cx="4114800" cy="365125"/>
          </a:xfrm>
        </p:spPr>
        <p:txBody>
          <a:bodyPr/>
          <a:lstStyle/>
          <a:p>
            <a:pPr>
              <a:defRPr/>
            </a:pPr>
            <a:fld id="{18DB60DA-1B8B-4765-8A14-34CF3CEC7748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452" y="1253892"/>
            <a:ext cx="8139113" cy="53471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96863" y="6372001"/>
            <a:ext cx="7055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/>
              <a:t>Git repo</a:t>
            </a:r>
          </a:p>
        </p:txBody>
      </p:sp>
      <p:sp>
        <p:nvSpPr>
          <p:cNvPr id="8" name="Rectangle 7"/>
          <p:cNvSpPr/>
          <p:nvPr/>
        </p:nvSpPr>
        <p:spPr>
          <a:xfrm>
            <a:off x="92922" y="4479787"/>
            <a:ext cx="283872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/>
              <a:t>The </a:t>
            </a:r>
            <a:r>
              <a:rPr lang="it-IT" sz="1200" b="1" dirty="0" err="1"/>
              <a:t>content</a:t>
            </a:r>
            <a:r>
              <a:rPr lang="it-IT" sz="1200" b="1" dirty="0"/>
              <a:t> </a:t>
            </a:r>
            <a:r>
              <a:rPr lang="it-IT" sz="1200" b="1" dirty="0" err="1"/>
              <a:t>here</a:t>
            </a:r>
            <a:r>
              <a:rPr lang="it-IT" sz="1200" b="1" dirty="0"/>
              <a:t> </a:t>
            </a:r>
            <a:r>
              <a:rPr lang="it-IT" sz="1200" b="1" dirty="0" err="1"/>
              <a:t>depends</a:t>
            </a:r>
            <a:r>
              <a:rPr lang="it-IT" sz="1200" b="1" dirty="0"/>
              <a:t> on the activity</a:t>
            </a:r>
          </a:p>
          <a:p>
            <a:r>
              <a:rPr lang="it-IT" sz="1200" b="1" dirty="0"/>
              <a:t>For </a:t>
            </a:r>
            <a:r>
              <a:rPr lang="it-IT" sz="1200" b="1" dirty="0" err="1"/>
              <a:t>example</a:t>
            </a:r>
            <a:r>
              <a:rPr lang="it-IT" sz="1200" b="1" dirty="0"/>
              <a:t> with Explorer </a:t>
            </a:r>
            <a:r>
              <a:rPr lang="it-IT" sz="1200" b="1" dirty="0" err="1"/>
              <a:t>here</a:t>
            </a:r>
            <a:r>
              <a:rPr lang="it-IT" sz="1200" b="1" dirty="0"/>
              <a:t> </a:t>
            </a:r>
            <a:r>
              <a:rPr lang="it-IT" sz="1200" b="1" dirty="0" err="1"/>
              <a:t>we</a:t>
            </a:r>
            <a:r>
              <a:rPr lang="it-IT" sz="1200" b="1" dirty="0"/>
              <a:t> </a:t>
            </a:r>
            <a:r>
              <a:rPr lang="it-IT" sz="1200" b="1" dirty="0" err="1"/>
              <a:t>have</a:t>
            </a:r>
            <a:r>
              <a:rPr lang="it-IT" sz="1200" b="1" dirty="0"/>
              <a:t> </a:t>
            </a:r>
          </a:p>
          <a:p>
            <a:r>
              <a:rPr lang="it-IT" sz="1200" b="1" dirty="0"/>
              <a:t>Folder and Files of the project (and </a:t>
            </a:r>
            <a:r>
              <a:rPr lang="it-IT" sz="1200" b="1" dirty="0" err="1"/>
              <a:t>other</a:t>
            </a:r>
            <a:r>
              <a:rPr lang="it-IT" sz="1200" b="1" dirty="0"/>
              <a:t> </a:t>
            </a:r>
          </a:p>
          <a:p>
            <a:r>
              <a:rPr lang="it-IT" sz="1200" b="1" dirty="0" err="1"/>
              <a:t>views</a:t>
            </a:r>
            <a:r>
              <a:rPr lang="it-IT" sz="1200" b="1"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451" y="5082872"/>
            <a:ext cx="593040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An </a:t>
            </a:r>
            <a:r>
              <a:rPr lang="en-US" sz="1200" b="1" dirty="0"/>
              <a:t>output section</a:t>
            </a:r>
            <a:r>
              <a:rPr lang="en-US" sz="1200" dirty="0"/>
              <a:t> consisting of </a:t>
            </a:r>
            <a:r>
              <a:rPr lang="en-US" sz="1200" b="1" dirty="0"/>
              <a:t>various tabs (Panels)</a:t>
            </a:r>
            <a:r>
              <a:rPr lang="en-US" sz="1200" dirty="0"/>
              <a:t> with an integrated </a:t>
            </a:r>
            <a:r>
              <a:rPr lang="en-US" sz="1200" b="1" dirty="0"/>
              <a:t>Terminal</a:t>
            </a:r>
            <a:r>
              <a:rPr lang="en-US" sz="1200" dirty="0"/>
              <a:t> provides a </a:t>
            </a:r>
          </a:p>
          <a:p>
            <a:r>
              <a:rPr lang="en-US" sz="1200" b="1" dirty="0"/>
              <a:t>command-line interface</a:t>
            </a:r>
            <a:r>
              <a:rPr lang="en-US" sz="1200" dirty="0"/>
              <a:t>. This allows developers to execute commands directly within </a:t>
            </a:r>
          </a:p>
          <a:p>
            <a:r>
              <a:rPr lang="en-US" sz="1200" dirty="0"/>
              <a:t>the IDE, making it easier to interact with the system without switching between different </a:t>
            </a:r>
          </a:p>
          <a:p>
            <a:r>
              <a:rPr lang="en-US" sz="1200" dirty="0"/>
              <a:t>tools or windows</a:t>
            </a:r>
            <a:endParaRPr lang="it-IT" sz="1200" b="1" dirty="0"/>
          </a:p>
        </p:txBody>
      </p:sp>
      <p:sp>
        <p:nvSpPr>
          <p:cNvPr id="11" name="Rectangle 10"/>
          <p:cNvSpPr/>
          <p:nvPr/>
        </p:nvSpPr>
        <p:spPr>
          <a:xfrm>
            <a:off x="7406012" y="3092249"/>
            <a:ext cx="13082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/>
              <a:t>Code editing area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2901D0A7-DE86-D071-D064-DD1A70889745}"/>
              </a:ext>
            </a:extLst>
          </p:cNvPr>
          <p:cNvSpPr/>
          <p:nvPr/>
        </p:nvSpPr>
        <p:spPr>
          <a:xfrm>
            <a:off x="5732990" y="1267177"/>
            <a:ext cx="39955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/>
              <a:t>To </a:t>
            </a:r>
            <a:r>
              <a:rPr lang="it-IT" sz="1200" b="1" dirty="0" err="1"/>
              <a:t>execute</a:t>
            </a:r>
            <a:r>
              <a:rPr lang="it-IT" sz="1200" b="1" dirty="0"/>
              <a:t> some actions (ex., open a folder, </a:t>
            </a:r>
            <a:r>
              <a:rPr lang="it-IT" sz="1200" b="1" dirty="0" err="1"/>
              <a:t>execute</a:t>
            </a:r>
            <a:r>
              <a:rPr lang="it-IT" sz="1200" b="1" dirty="0"/>
              <a:t> a code)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2E7C226-B369-C3ED-23A3-D8CC4D3BA543}"/>
              </a:ext>
            </a:extLst>
          </p:cNvPr>
          <p:cNvSpPr/>
          <p:nvPr/>
        </p:nvSpPr>
        <p:spPr>
          <a:xfrm>
            <a:off x="7965654" y="6344577"/>
            <a:ext cx="36694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1200" b="1" dirty="0"/>
              <a:t>Info </a:t>
            </a:r>
            <a:r>
              <a:rPr lang="it-IT" sz="1200" b="1" dirty="0" err="1"/>
              <a:t>related</a:t>
            </a:r>
            <a:r>
              <a:rPr lang="it-IT" sz="1200" b="1" dirty="0"/>
              <a:t> to the file </a:t>
            </a:r>
            <a:r>
              <a:rPr lang="it-IT" sz="1200" b="1" dirty="0" err="1"/>
              <a:t>opened</a:t>
            </a:r>
            <a:r>
              <a:rPr lang="it-IT" sz="1200" b="1" dirty="0"/>
              <a:t> in the Code editing area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688F-3D72-2855-A258-ED5030E7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293" y="127171"/>
            <a:ext cx="10515600" cy="1325563"/>
          </a:xfrm>
        </p:spPr>
        <p:txBody>
          <a:bodyPr/>
          <a:lstStyle/>
          <a:p>
            <a:r>
              <a:rPr lang="en-US" b="1" dirty="0"/>
              <a:t>VS CODE GUI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59886-53D1-45BB-6ACB-938EE26FFE65}"/>
              </a:ext>
            </a:extLst>
          </p:cNvPr>
          <p:cNvSpPr txBox="1"/>
          <p:nvPr/>
        </p:nvSpPr>
        <p:spPr>
          <a:xfrm>
            <a:off x="803458" y="1596765"/>
            <a:ext cx="1835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The </a:t>
            </a:r>
            <a:r>
              <a:rPr lang="en-US" sz="1200" b="1" dirty="0"/>
              <a:t>main navigation area</a:t>
            </a:r>
            <a:r>
              <a:rPr lang="en-US" sz="1200" dirty="0"/>
              <a:t> </a:t>
            </a:r>
          </a:p>
          <a:p>
            <a:r>
              <a:rPr lang="en-US" sz="1200" dirty="0"/>
              <a:t>in </a:t>
            </a:r>
            <a:r>
              <a:rPr lang="en-US" sz="1200" b="1" dirty="0"/>
              <a:t>VS Code</a:t>
            </a:r>
            <a:endParaRPr lang="en-US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408592-C76F-2F5E-C523-FED03D852A01}"/>
              </a:ext>
            </a:extLst>
          </p:cNvPr>
          <p:cNvCxnSpPr/>
          <p:nvPr/>
        </p:nvCxnSpPr>
        <p:spPr>
          <a:xfrm>
            <a:off x="2024244" y="1934379"/>
            <a:ext cx="844599" cy="4726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4CECCC7-E03A-D4A9-DC36-46C47249FB39}"/>
              </a:ext>
            </a:extLst>
          </p:cNvPr>
          <p:cNvCxnSpPr>
            <a:cxnSpLocks/>
          </p:cNvCxnSpPr>
          <p:nvPr/>
        </p:nvCxnSpPr>
        <p:spPr>
          <a:xfrm flipV="1">
            <a:off x="2142890" y="4109839"/>
            <a:ext cx="1577515" cy="362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8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A211-80D3-0755-8BCC-698DF9B6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519"/>
            <a:ext cx="10515600" cy="1325563"/>
          </a:xfrm>
        </p:spPr>
        <p:txBody>
          <a:bodyPr/>
          <a:lstStyle/>
          <a:p>
            <a:r>
              <a:rPr lang="en-US" b="1" dirty="0"/>
              <a:t>Activity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3B050-ED9F-9384-7667-783956573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100"/>
            <a:ext cx="10515600" cy="13255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Activity Bar</a:t>
            </a:r>
            <a:r>
              <a:rPr lang="en-US" dirty="0"/>
              <a:t> is the main navigation area in </a:t>
            </a:r>
            <a:r>
              <a:rPr lang="en-US" b="1" dirty="0"/>
              <a:t>VS Code</a:t>
            </a:r>
            <a:r>
              <a:rPr lang="en-US" dirty="0"/>
              <a:t>, located on the side of the interface. It allows quick access to core features like the </a:t>
            </a:r>
            <a:r>
              <a:rPr lang="en-US" b="1" dirty="0"/>
              <a:t>Explorer</a:t>
            </a:r>
            <a:r>
              <a:rPr lang="en-US" dirty="0"/>
              <a:t>, </a:t>
            </a:r>
            <a:r>
              <a:rPr lang="en-US" b="1" dirty="0"/>
              <a:t>Search</a:t>
            </a:r>
            <a:r>
              <a:rPr lang="en-US" dirty="0"/>
              <a:t>, </a:t>
            </a:r>
            <a:r>
              <a:rPr lang="en-US" b="1" dirty="0"/>
              <a:t>Source Control</a:t>
            </a:r>
            <a:r>
              <a:rPr lang="en-US" dirty="0"/>
              <a:t>, and </a:t>
            </a:r>
            <a:r>
              <a:rPr lang="en-US" b="1" dirty="0"/>
              <a:t>Extensions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1ED9F-F24B-8B0C-F310-9D1F4BDA0D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430" y="2587619"/>
            <a:ext cx="5531200" cy="4021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B65FAE-E176-9B3A-ECD0-40B6E32546E7}"/>
              </a:ext>
            </a:extLst>
          </p:cNvPr>
          <p:cNvSpPr txBox="1"/>
          <p:nvPr/>
        </p:nvSpPr>
        <p:spPr>
          <a:xfrm>
            <a:off x="1066219" y="3307806"/>
            <a:ext cx="26891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Explorer view</a:t>
            </a:r>
            <a:endParaRPr lang="en-US" sz="2400" dirty="0"/>
          </a:p>
          <a:p>
            <a:r>
              <a:rPr lang="en-US" sz="2400" b="1" dirty="0"/>
              <a:t>Search</a:t>
            </a:r>
          </a:p>
          <a:p>
            <a:r>
              <a:rPr lang="en-US" sz="2400" b="1" dirty="0"/>
              <a:t>Source Control (Git)</a:t>
            </a:r>
          </a:p>
          <a:p>
            <a:r>
              <a:rPr lang="en-US" sz="2400" b="1" dirty="0"/>
              <a:t>Run and Debug</a:t>
            </a:r>
          </a:p>
          <a:p>
            <a:r>
              <a:rPr lang="en-US" sz="2400" b="1" dirty="0"/>
              <a:t>Extensions</a:t>
            </a:r>
          </a:p>
          <a:p>
            <a:r>
              <a:rPr lang="en-US" sz="2400" b="1" dirty="0"/>
              <a:t>GitHub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08379-C1E1-2A74-0736-F6D8C91B8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9" y="3428999"/>
            <a:ext cx="304816" cy="2121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9E54CC-B12B-6C74-8043-BF2C7C29A029}"/>
              </a:ext>
            </a:extLst>
          </p:cNvPr>
          <p:cNvSpPr txBox="1"/>
          <p:nvPr/>
        </p:nvSpPr>
        <p:spPr>
          <a:xfrm>
            <a:off x="1352345" y="5884884"/>
            <a:ext cx="25068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Feature added as extension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F63E95-AA9A-3631-7B30-838955FB9A96}"/>
              </a:ext>
            </a:extLst>
          </p:cNvPr>
          <p:cNvCxnSpPr/>
          <p:nvPr/>
        </p:nvCxnSpPr>
        <p:spPr>
          <a:xfrm flipH="1" flipV="1">
            <a:off x="1821820" y="5550008"/>
            <a:ext cx="314107" cy="31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857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C53F-2A5A-2D69-8AE7-E71ABD32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402"/>
            <a:ext cx="10515600" cy="1325563"/>
          </a:xfrm>
        </p:spPr>
        <p:txBody>
          <a:bodyPr/>
          <a:lstStyle/>
          <a:p>
            <a:r>
              <a:rPr lang="en-US" b="1" dirty="0"/>
              <a:t>Explorer View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87B0720-7DDF-5F52-42F1-AFAD6ADDC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86" y="1511713"/>
            <a:ext cx="5933275" cy="296663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627ACAAF-6E4C-AB19-932C-9470ABFB8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013" y="4006608"/>
            <a:ext cx="7643569" cy="2735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BB12C2-6380-A67D-ADF4-95240A95FF4B}"/>
              </a:ext>
            </a:extLst>
          </p:cNvPr>
          <p:cNvSpPr txBox="1"/>
          <p:nvPr/>
        </p:nvSpPr>
        <p:spPr>
          <a:xfrm>
            <a:off x="6783762" y="2216276"/>
            <a:ext cx="5250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The Explorer view is </a:t>
            </a:r>
            <a:r>
              <a:rPr lang="en-US" sz="2000" i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used to browse, open, and manage the files and folders in your project</a:t>
            </a:r>
            <a:endParaRPr lang="en-US" sz="20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82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7921" y="1600200"/>
            <a:ext cx="9433739" cy="1092200"/>
          </a:xfrm>
        </p:spPr>
        <p:txBody>
          <a:bodyPr>
            <a:noAutofit/>
          </a:bodyPr>
          <a:lstStyle/>
          <a:p>
            <a:r>
              <a:rPr lang="it-IT" sz="2000" b="1" dirty="0" err="1"/>
              <a:t>Ctrl+Shift+P</a:t>
            </a:r>
            <a:endParaRPr lang="it-IT" sz="2000" b="1" dirty="0"/>
          </a:p>
          <a:p>
            <a:r>
              <a:rPr lang="en-US" sz="1800" dirty="0"/>
              <a:t>From here, you have access to all functionality within VS Code, including keyboard shortcuts for the most common operations</a:t>
            </a:r>
            <a:endParaRPr lang="it-IT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DB60DA-1B8B-4765-8A14-34CF3CEC7748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335" y="3182481"/>
            <a:ext cx="8141222" cy="344633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805030F-9A66-C7A2-BC95-EAC4E3A3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Command Palette</a:t>
            </a:r>
          </a:p>
        </p:txBody>
      </p:sp>
    </p:spTree>
    <p:extLst>
      <p:ext uri="{BB962C8B-B14F-4D97-AF65-F5344CB8AC3E}">
        <p14:creationId xmlns:p14="http://schemas.microsoft.com/office/powerpoint/2010/main" val="415391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DB60DA-1B8B-4765-8A14-34CF3CEC7748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65625A-216F-6469-1FC7-59762A7EF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Extensions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245D2D-1705-A841-E115-8E8774108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778" y="774797"/>
            <a:ext cx="5344819" cy="58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85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Terminal (CLI)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666573"/>
            <a:ext cx="10515600" cy="105019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600" dirty="0"/>
              <a:t>You can use the integrated terminal just like a typical console by typing commands, obtaining output, and performing various tasks directly within the editor</a:t>
            </a:r>
            <a:endParaRPr lang="it-IT" altLang="it-IT" sz="4800" dirty="0">
              <a:latin typeface="+mj-lt"/>
            </a:endParaRPr>
          </a:p>
          <a:p>
            <a:pPr algn="just"/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DB60DA-1B8B-4765-8A14-34CF3CEC774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0" y="2931664"/>
            <a:ext cx="11573392" cy="367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00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4038600" y="6322606"/>
            <a:ext cx="4114800" cy="365125"/>
          </a:xfrm>
        </p:spPr>
        <p:txBody>
          <a:bodyPr/>
          <a:lstStyle/>
          <a:p>
            <a:pPr>
              <a:defRPr/>
            </a:pPr>
            <a:fld id="{18DB60DA-1B8B-4765-8A14-34CF3CEC7748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390889" y="1544921"/>
            <a:ext cx="110076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Code snippets are </a:t>
            </a:r>
            <a:r>
              <a:rPr lang="en-US" sz="2800" b="1" dirty="0">
                <a:solidFill>
                  <a:srgbClr val="FF0000"/>
                </a:solidFill>
              </a:rPr>
              <a:t>templates </a:t>
            </a:r>
            <a:r>
              <a:rPr lang="en-US" sz="2800" dirty="0"/>
              <a:t>that make it easier to enter repeating code patterns, such as loops or conditional-statements</a:t>
            </a:r>
            <a:endParaRPr lang="it-IT" sz="2800" dirty="0">
              <a:latin typeface="+mj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16CC4D0-CA94-A1CD-D59B-CC1D42EC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Snippets</a:t>
            </a:r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33D25B0-E40C-3179-831B-62D4D1919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234" y="2951695"/>
            <a:ext cx="7920656" cy="270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9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32D26-27E7-79DD-B96C-6F61E7E38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Visual Studio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C2A96-AE83-2C71-3B99-5157A21AC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99938"/>
          </a:xfrm>
        </p:spPr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https://code.visualstudio.com/docs/setup/setup-overview</a:t>
            </a:r>
            <a:endParaRPr lang="en-US" dirty="0"/>
          </a:p>
          <a:p>
            <a:r>
              <a:rPr lang="en-US" dirty="0"/>
              <a:t>Select the Operating system</a:t>
            </a:r>
          </a:p>
          <a:p>
            <a:r>
              <a:rPr lang="en-US" dirty="0"/>
              <a:t>Follow the instructions!</a:t>
            </a:r>
          </a:p>
          <a:p>
            <a:r>
              <a:rPr lang="en-US" dirty="0"/>
              <a:t>Suggestions:</a:t>
            </a:r>
          </a:p>
          <a:p>
            <a:pPr lvl="1"/>
            <a:r>
              <a:rPr lang="en-US" dirty="0"/>
              <a:t>Select all default settings</a:t>
            </a:r>
          </a:p>
          <a:p>
            <a:pPr lvl="1"/>
            <a:r>
              <a:rPr lang="en-US" dirty="0"/>
              <a:t>Choose the look &amp; feel of the GUI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9144D39-D280-BBCE-FE12-2D455D4F7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9080" y="5613412"/>
            <a:ext cx="66582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How many of you have not yet installed VS Code?</a:t>
            </a:r>
          </a:p>
        </p:txBody>
      </p:sp>
      <p:pic>
        <p:nvPicPr>
          <p:cNvPr id="11" name="Picture 10" descr="A computer with a screen showing loading&#10;&#10;Description automatically generated">
            <a:extLst>
              <a:ext uri="{FF2B5EF4-FFF2-40B4-BE49-F238E27FC236}">
                <a16:creationId xmlns:a16="http://schemas.microsoft.com/office/drawing/2014/main" id="{440507C6-6424-F9CB-76B8-1202BE7DE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769" y="2816451"/>
            <a:ext cx="3456069" cy="23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9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B245-5408-ED37-9240-AFB89DF8A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 dirty="0"/>
              <a:t>C/C++ for Visual Studio 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12959-61CD-95F9-B39E-D2FA65BF7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the C++ extension in VS CODE</a:t>
            </a:r>
          </a:p>
          <a:p>
            <a:r>
              <a:rPr lang="en-US" dirty="0"/>
              <a:t>The C/C++ extension doesn't include a C++ compiler or debugger</a:t>
            </a:r>
          </a:p>
          <a:p>
            <a:r>
              <a:rPr lang="en-US" dirty="0"/>
              <a:t>Install a Compiler</a:t>
            </a:r>
          </a:p>
          <a:p>
            <a:pPr lvl="1"/>
            <a:r>
              <a:rPr lang="en-US" dirty="0"/>
              <a:t>Different options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For Windows: </a:t>
            </a:r>
            <a:r>
              <a:rPr lang="en-US" b="1" dirty="0" err="1">
                <a:solidFill>
                  <a:srgbClr val="FF0000"/>
                </a:solidFill>
              </a:rPr>
              <a:t>MingGV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EE3FE59-ED93-42A4-4003-766F2D52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6367" y="1051875"/>
            <a:ext cx="4249919" cy="1253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8822DA-DF0D-E2BF-289A-4A69B084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8232" y="2989941"/>
            <a:ext cx="2725568" cy="3356109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A6EFF031-63EC-2034-940C-CCD507EBB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65888"/>
            <a:ext cx="703013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reaming Outloud Pro" panose="03050502040302030504" pitchFamily="66" charset="0"/>
                <a:cs typeface="Dreaming Outloud Pro" panose="03050502040302030504" pitchFamily="66" charset="0"/>
              </a:rPr>
              <a:t>How many of you have not yet installed a Compiler?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Problems during installation?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7CF54D9-E494-A42D-DE7A-9296188D0A24}"/>
              </a:ext>
            </a:extLst>
          </p:cNvPr>
          <p:cNvSpPr txBox="1"/>
          <p:nvPr/>
        </p:nvSpPr>
        <p:spPr>
          <a:xfrm>
            <a:off x="2341324" y="6353930"/>
            <a:ext cx="84519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https://code.visualstudio.com/docs/languages/cpp</a:t>
            </a:r>
          </a:p>
        </p:txBody>
      </p:sp>
    </p:spTree>
    <p:extLst>
      <p:ext uri="{BB962C8B-B14F-4D97-AF65-F5344CB8AC3E}">
        <p14:creationId xmlns:p14="http://schemas.microsoft.com/office/powerpoint/2010/main" val="2664025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EDBB-7EC5-1BA1-EE6D-36BF7C6B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B31B-7A2E-EE7A-A1BC-0183DA10F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0" y="189481"/>
            <a:ext cx="11425255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1</a:t>
            </a:r>
            <a:r>
              <a:rPr lang="it-IT" b="1" dirty="0"/>
              <a:t>: PRINT THREE NUMBERS IN ASCEDNING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F7BFA-5022-8FFA-5A89-9DF4E58EA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026" y="1839603"/>
            <a:ext cx="4415889" cy="3074424"/>
          </a:xfrm>
        </p:spPr>
        <p:txBody>
          <a:bodyPr/>
          <a:lstStyle/>
          <a:p>
            <a:pPr algn="just"/>
            <a:r>
              <a:rPr lang="en-US" dirty="0"/>
              <a:t>Write a C++ program that reads </a:t>
            </a:r>
            <a:r>
              <a:rPr lang="en-US" b="1" dirty="0"/>
              <a:t>five integers </a:t>
            </a:r>
            <a:r>
              <a:rPr lang="en-US" dirty="0"/>
              <a:t>and prints them in </a:t>
            </a:r>
            <a:r>
              <a:rPr lang="en-US" b="1" dirty="0"/>
              <a:t>ascending order</a:t>
            </a:r>
          </a:p>
          <a:p>
            <a:pPr algn="just"/>
            <a:r>
              <a:rPr lang="en-US" dirty="0"/>
              <a:t>For example:</a:t>
            </a:r>
          </a:p>
          <a:p>
            <a:pPr lvl="1" algn="just"/>
            <a:r>
              <a:rPr lang="en-US" dirty="0"/>
              <a:t>Input: 10, 20, 15, 5, 25</a:t>
            </a:r>
          </a:p>
          <a:p>
            <a:pPr lvl="1" algn="just"/>
            <a:r>
              <a:rPr lang="en-US" dirty="0"/>
              <a:t>Output: 5, 10, 15, 20, 25</a:t>
            </a:r>
          </a:p>
        </p:txBody>
      </p:sp>
      <p:pic>
        <p:nvPicPr>
          <p:cNvPr id="6" name="Picture 5" descr="A graph of a child climbing up to the top of a bar chart&#10;&#10;Description automatically generated">
            <a:extLst>
              <a:ext uri="{FF2B5EF4-FFF2-40B4-BE49-F238E27FC236}">
                <a16:creationId xmlns:a16="http://schemas.microsoft.com/office/drawing/2014/main" id="{E08AB295-A8AD-FA23-F52D-30040610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031" y="1839603"/>
            <a:ext cx="3686794" cy="368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35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B69E-2A04-A750-44AA-62480DE85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0" y="159609"/>
            <a:ext cx="11425255" cy="1325563"/>
          </a:xfrm>
        </p:spPr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1</a:t>
            </a:r>
            <a:r>
              <a:rPr lang="it-IT" b="1" dirty="0"/>
              <a:t>: PRINT THREE NUMBERS IN ASCEDNING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DF9BF-4ACC-7C8F-0D2E-7E3BADD8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4" y="2105282"/>
            <a:ext cx="4958408" cy="4351338"/>
          </a:xfrm>
        </p:spPr>
        <p:txBody>
          <a:bodyPr/>
          <a:lstStyle/>
          <a:p>
            <a:r>
              <a:rPr lang="en-US" dirty="0"/>
              <a:t>Following is the proposed algorithm given in pseudocode (which specifies additional details).</a:t>
            </a:r>
          </a:p>
          <a:p>
            <a:endParaRPr lang="en-US" dirty="0"/>
          </a:p>
          <a:p>
            <a:r>
              <a:rPr lang="en-US" dirty="0"/>
              <a:t>For example: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Output: 5, 10, 15, 20, 25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639B7-0F32-B1A7-8AB0-114CB933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7021" y="1283420"/>
            <a:ext cx="6044349" cy="557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6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E1D38-79C4-815E-3249-18122118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2</a:t>
            </a:r>
            <a:r>
              <a:rPr lang="it-IT" b="1" dirty="0"/>
              <a:t>: DISPLAYING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82B7CC-4664-E080-9DAA-2E5955AC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time(0) function in the </a:t>
            </a:r>
            <a:r>
              <a:rPr lang="en-US" dirty="0" err="1"/>
              <a:t>ctime</a:t>
            </a:r>
            <a:r>
              <a:rPr lang="en-US" dirty="0"/>
              <a:t> header file returns the current time in seconds elapsed since the time 00:00:00 on January 1, 1970 GMT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Write a C++ program that displays the current time in the format </a:t>
            </a:r>
            <a:r>
              <a:rPr lang="en-US" dirty="0" err="1">
                <a:solidFill>
                  <a:srgbClr val="FF0000"/>
                </a:solidFill>
              </a:rPr>
              <a:t>hour:minute:second</a:t>
            </a:r>
            <a:endParaRPr lang="it-IT" dirty="0">
              <a:solidFill>
                <a:srgbClr val="FF0000"/>
              </a:solidFill>
            </a:endParaRP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29B1071F-AFBC-3291-AC97-BCDEE99ADB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596711"/>
              </p:ext>
            </p:extLst>
          </p:nvPr>
        </p:nvGraphicFramePr>
        <p:xfrm>
          <a:off x="2376969" y="2779198"/>
          <a:ext cx="7178934" cy="1788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898136" imgH="1219200" progId="Word.Picture.8">
                  <p:embed/>
                </p:oleObj>
              </mc:Choice>
              <mc:Fallback>
                <p:oleObj name="Picture" r:id="rId3" imgW="4898136" imgH="1219200" progId="Word.Picture.8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29B1071F-AFBC-3291-AC97-BCDEE99ADB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969" y="2779198"/>
                        <a:ext cx="7178934" cy="1788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316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E946E-32EF-5C3F-AF35-77CDF4F1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81BD21-BFC4-84FE-4831-29EFF368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3</a:t>
            </a:r>
            <a:r>
              <a:rPr lang="it-IT" b="1" dirty="0"/>
              <a:t>: FARE CALCULATION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460CED-65CF-9839-1DA8-0321AD6DF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C++ program that reads the number of kilometers traveled by a taxi.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								</a:t>
            </a:r>
            <a:br>
              <a:rPr lang="en-US" dirty="0"/>
            </a:br>
            <a:r>
              <a:rPr lang="en-US" dirty="0"/>
              <a:t>Input: 22</a:t>
            </a:r>
            <a:br>
              <a:rPr lang="en-US" dirty="0"/>
            </a:br>
            <a:r>
              <a:rPr lang="en-US" dirty="0"/>
              <a:t>Output: Final price based on the rules </a:t>
            </a:r>
          </a:p>
          <a:p>
            <a:pPr marL="0" indent="0">
              <a:buNone/>
            </a:pPr>
            <a:r>
              <a:rPr lang="en-US" dirty="0"/>
              <a:t>   in euros.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FDE40-4BEB-8197-FE1D-EDBD53FA4C16}"/>
              </a:ext>
            </a:extLst>
          </p:cNvPr>
          <p:cNvSpPr txBox="1"/>
          <p:nvPr/>
        </p:nvSpPr>
        <p:spPr>
          <a:xfrm>
            <a:off x="6658302" y="2469926"/>
            <a:ext cx="495562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The fare rules are:</a:t>
            </a:r>
          </a:p>
          <a:p>
            <a:r>
              <a:rPr lang="en-US" sz="3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Base fare: </a:t>
            </a:r>
            <a:r>
              <a:rPr lang="en-US" sz="3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5 €</a:t>
            </a:r>
            <a:endParaRPr lang="en-US" sz="3200" dirty="0"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r>
              <a:rPr lang="en-US" sz="3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Each kilometer costs:</a:t>
            </a:r>
          </a:p>
          <a:p>
            <a:pPr lvl="1"/>
            <a:r>
              <a:rPr lang="en-US" sz="3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2 €</a:t>
            </a:r>
            <a:r>
              <a:rPr lang="en-US" sz="3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if the distance is </a:t>
            </a:r>
            <a:r>
              <a:rPr lang="en-US" sz="32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10 km or less</a:t>
            </a:r>
            <a:endParaRPr lang="en-US" sz="3200" dirty="0">
              <a:solidFill>
                <a:srgbClr val="FF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lvl="1"/>
            <a:r>
              <a:rPr lang="en-US" sz="3200" b="1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1.50 €</a:t>
            </a:r>
            <a:r>
              <a:rPr lang="en-US" sz="32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if the distance is </a:t>
            </a:r>
            <a:r>
              <a:rPr lang="en-US" sz="32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more than 10 km</a:t>
            </a:r>
            <a:endParaRPr lang="en-US" sz="3200" dirty="0">
              <a:solidFill>
                <a:srgbClr val="FF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11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DFF1-227C-B5C7-8B16-36B1B015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65B619-7AB9-47AF-AF97-95459F6BE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4</a:t>
            </a:r>
            <a:r>
              <a:rPr lang="it-IT" b="1" dirty="0"/>
              <a:t>: AVERAGE GRADE CALCULATION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362662-05B4-8CD8-0412-041F7CA27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Write a C++ program that reads three test scores and calculates the average grade.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Grading Scale:</a:t>
            </a:r>
            <a:endParaRPr lang="en-US" dirty="0">
              <a:solidFill>
                <a:srgbClr val="FF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0" indent="0">
              <a:buNone/>
            </a:pPr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  A: 90-100</a:t>
            </a:r>
          </a:p>
          <a:p>
            <a:pPr marL="0" indent="0">
              <a:buNone/>
            </a:pPr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  B: 80-89</a:t>
            </a:r>
          </a:p>
          <a:p>
            <a:pPr marL="0" indent="0">
              <a:buNone/>
            </a:pPr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  C: 70-79</a:t>
            </a:r>
          </a:p>
          <a:p>
            <a:pPr marL="0" indent="0">
              <a:buNone/>
            </a:pPr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  D: 60-69</a:t>
            </a:r>
          </a:p>
          <a:p>
            <a:pPr marL="0" indent="0">
              <a:buNone/>
            </a:pPr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   F: Below 60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C2B1D-CEC2-B4EE-7864-2A620E6DC191}"/>
              </a:ext>
            </a:extLst>
          </p:cNvPr>
          <p:cNvSpPr txBox="1"/>
          <p:nvPr/>
        </p:nvSpPr>
        <p:spPr>
          <a:xfrm>
            <a:off x="5512675" y="2522703"/>
            <a:ext cx="61222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Requirements:</a:t>
            </a:r>
            <a:endParaRPr lang="en-US" sz="2800" dirty="0">
              <a:solidFill>
                <a:srgbClr val="FF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Calculate the average as a decimal 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Display both the average and the letter grade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Add a message like "Excellent!" for A, "Good job!" for B, etc.</a:t>
            </a:r>
          </a:p>
        </p:txBody>
      </p:sp>
    </p:spTree>
    <p:extLst>
      <p:ext uri="{BB962C8B-B14F-4D97-AF65-F5344CB8AC3E}">
        <p14:creationId xmlns:p14="http://schemas.microsoft.com/office/powerpoint/2010/main" val="3772615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82EB-BCD0-6CD3-AE7F-884EDFC8B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7A5F66-EE85-BA4B-3C56-EC7FBEF4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868807" cy="2010213"/>
          </a:xfrm>
        </p:spPr>
        <p:txBody>
          <a:bodyPr>
            <a:normAutofit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Exercise</a:t>
            </a:r>
            <a:r>
              <a:rPr lang="it-IT" b="1" dirty="0">
                <a:solidFill>
                  <a:srgbClr val="00B050"/>
                </a:solidFill>
              </a:rPr>
              <a:t> 5</a:t>
            </a:r>
            <a:r>
              <a:rPr lang="it-IT" b="1" dirty="0"/>
              <a:t>: CELSIUS TO FAHRENHEIT CONVERSION </a:t>
            </a:r>
            <a:br>
              <a:rPr lang="en-US" dirty="0"/>
            </a:br>
            <a:endParaRPr lang="it-IT" b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84AD87-8304-C4C0-B16C-C3F0FA229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C++ program that converts a temperature from Celsius to Fahrenheit.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Example:</a:t>
            </a:r>
          </a:p>
          <a:p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0°C should give 32°F (freezing point)</a:t>
            </a:r>
          </a:p>
          <a:p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100°C should give 212°F (boiling point)</a:t>
            </a:r>
          </a:p>
          <a:p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37°C should give 98.6°F (body temperature)</a:t>
            </a:r>
          </a:p>
          <a:p>
            <a:r>
              <a:rPr lang="en-US" dirty="0">
                <a:latin typeface="Dreaming Outloud Pro" panose="03050502040302030504" pitchFamily="66" charset="0"/>
                <a:cs typeface="Dreaming Outloud Pro" panose="03050502040302030504" pitchFamily="66" charset="0"/>
              </a:rPr>
              <a:t>-40°C should give -40°F (interesting coincidence!)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2156A-239E-CD92-4B02-1B1C0D546623}"/>
              </a:ext>
            </a:extLst>
          </p:cNvPr>
          <p:cNvSpPr txBox="1"/>
          <p:nvPr/>
        </p:nvSpPr>
        <p:spPr>
          <a:xfrm>
            <a:off x="8954813" y="2617296"/>
            <a:ext cx="31215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Formula:</a:t>
            </a:r>
          </a:p>
          <a:p>
            <a:endParaRPr lang="en-US" sz="2800" dirty="0">
              <a:solidFill>
                <a:srgbClr val="FF0000"/>
              </a:solidFill>
              <a:latin typeface="Dreaming Outloud Pro" panose="03050502040302030504" pitchFamily="66" charset="0"/>
              <a:cs typeface="Dreaming Outloud Pro" panose="030505020403020305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708834-45C9-A9DB-B040-9EDA4CC763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89" t="25233" r="16434" b="21929"/>
          <a:stretch>
            <a:fillRect/>
          </a:stretch>
        </p:blipFill>
        <p:spPr>
          <a:xfrm>
            <a:off x="8492358" y="3092235"/>
            <a:ext cx="2638098" cy="9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31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2580</Words>
  <Application>Microsoft Office PowerPoint</Application>
  <PresentationFormat>Widescreen</PresentationFormat>
  <Paragraphs>364</Paragraphs>
  <Slides>23</Slides>
  <Notes>9</Notes>
  <HiddenSlides>0</HiddenSlides>
  <MMClips>1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Dreaming Outloud Pro</vt:lpstr>
      <vt:lpstr>Office Theme</vt:lpstr>
      <vt:lpstr>Picture</vt:lpstr>
      <vt:lpstr>Introduction to Computer Science and Programming</vt:lpstr>
      <vt:lpstr>Today…</vt:lpstr>
      <vt:lpstr>What is VS Code?</vt:lpstr>
      <vt:lpstr>Cross-platform source code editor</vt:lpstr>
      <vt:lpstr>What are its most interesting features?</vt:lpstr>
      <vt:lpstr>IntelliSense (Code Completion)</vt:lpstr>
      <vt:lpstr>Why was VS Code chosen?</vt:lpstr>
      <vt:lpstr>Stack Overflow 2023 Developer Survey</vt:lpstr>
      <vt:lpstr>VS CODE GUI</vt:lpstr>
      <vt:lpstr>Activity Bar</vt:lpstr>
      <vt:lpstr>Explorer View</vt:lpstr>
      <vt:lpstr>Command Palette</vt:lpstr>
      <vt:lpstr>Extensions</vt:lpstr>
      <vt:lpstr>Terminal (CLI)</vt:lpstr>
      <vt:lpstr>Snippets</vt:lpstr>
      <vt:lpstr>Setting up Visual Studio Code</vt:lpstr>
      <vt:lpstr>C/C++ for Visual Studio Code</vt:lpstr>
      <vt:lpstr>Exercise 1: PRINT THREE NUMBERS IN ASCEDNING ORDER</vt:lpstr>
      <vt:lpstr>Exercise 1: PRINT THREE NUMBERS IN ASCEDNING ORDER</vt:lpstr>
      <vt:lpstr>Exercise 2: DISPLAYING TIME</vt:lpstr>
      <vt:lpstr>Exercise 3: FARE CALCULATION</vt:lpstr>
      <vt:lpstr>Exercise 4: AVERAGE GRADE CALCULATION</vt:lpstr>
      <vt:lpstr>Exercise 5: CELSIUS TO FAHRENHEIT CONVERSION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Muhammad Mohsin</cp:lastModifiedBy>
  <cp:revision>394</cp:revision>
  <dcterms:created xsi:type="dcterms:W3CDTF">2018-08-24T21:11:55Z</dcterms:created>
  <dcterms:modified xsi:type="dcterms:W3CDTF">2025-12-02T13:06:34Z</dcterms:modified>
</cp:coreProperties>
</file>